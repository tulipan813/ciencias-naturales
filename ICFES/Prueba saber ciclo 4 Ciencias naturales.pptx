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72" d="100"/>
          <a:sy n="72" d="100"/>
        </p:scale>
        <p:origin x="66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0352B188-EF31-4F65-85E9-76461E193C9C}" type="datetimeFigureOut">
              <a:rPr lang="es-CO" smtClean="0"/>
              <a:t>20/10/2025</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2751149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0352B188-EF31-4F65-85E9-76461E193C9C}" type="datetimeFigureOut">
              <a:rPr lang="es-CO" smtClean="0"/>
              <a:t>20/10/2025</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1510228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0352B188-EF31-4F65-85E9-76461E193C9C}" type="datetimeFigureOut">
              <a:rPr lang="es-CO" smtClean="0"/>
              <a:t>20/10/2025</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2543251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0352B188-EF31-4F65-85E9-76461E193C9C}" type="datetimeFigureOut">
              <a:rPr lang="es-CO" smtClean="0"/>
              <a:t>20/10/2025</a:t>
            </a:fld>
            <a:endParaRPr lang="es-CO" dirty="0"/>
          </a:p>
        </p:txBody>
      </p:sp>
      <p:sp>
        <p:nvSpPr>
          <p:cNvPr id="6" name="Footer Placeholder 5"/>
          <p:cNvSpPr>
            <a:spLocks noGrp="1"/>
          </p:cNvSpPr>
          <p:nvPr>
            <p:ph type="ftr" sz="quarter" idx="11"/>
          </p:nvPr>
        </p:nvSpPr>
        <p:spPr/>
        <p:txBody>
          <a:bodyPr/>
          <a:lstStyle/>
          <a:p>
            <a:endParaRPr lang="es-CO" dirty="0"/>
          </a:p>
        </p:txBody>
      </p:sp>
      <p:sp>
        <p:nvSpPr>
          <p:cNvPr id="7" name="Slide Number Placeholder 6"/>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3680864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0352B188-EF31-4F65-85E9-76461E193C9C}" type="datetimeFigureOut">
              <a:rPr lang="es-CO" smtClean="0"/>
              <a:t>20/10/2025</a:t>
            </a:fld>
            <a:endParaRPr lang="es-CO" dirty="0"/>
          </a:p>
        </p:txBody>
      </p:sp>
      <p:sp>
        <p:nvSpPr>
          <p:cNvPr id="8" name="Footer Placeholder 7"/>
          <p:cNvSpPr>
            <a:spLocks noGrp="1"/>
          </p:cNvSpPr>
          <p:nvPr>
            <p:ph type="ftr" sz="quarter" idx="11"/>
          </p:nvPr>
        </p:nvSpPr>
        <p:spPr/>
        <p:txBody>
          <a:bodyPr/>
          <a:lstStyle/>
          <a:p>
            <a:endParaRPr lang="es-CO" dirty="0"/>
          </a:p>
        </p:txBody>
      </p:sp>
      <p:sp>
        <p:nvSpPr>
          <p:cNvPr id="9" name="Slide Number Placeholder 8"/>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543382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0352B188-EF31-4F65-85E9-76461E193C9C}" type="datetimeFigureOut">
              <a:rPr lang="es-CO" smtClean="0"/>
              <a:t>20/10/2025</a:t>
            </a:fld>
            <a:endParaRPr lang="es-CO" dirty="0"/>
          </a:p>
        </p:txBody>
      </p:sp>
      <p:sp>
        <p:nvSpPr>
          <p:cNvPr id="4" name="Footer Placeholder 3"/>
          <p:cNvSpPr>
            <a:spLocks noGrp="1"/>
          </p:cNvSpPr>
          <p:nvPr>
            <p:ph type="ftr" sz="quarter" idx="11"/>
          </p:nvPr>
        </p:nvSpPr>
        <p:spPr/>
        <p:txBody>
          <a:bodyPr/>
          <a:lstStyle/>
          <a:p>
            <a:endParaRPr lang="es-CO" dirty="0"/>
          </a:p>
        </p:txBody>
      </p:sp>
      <p:sp>
        <p:nvSpPr>
          <p:cNvPr id="5" name="Slide Number Placeholder 4"/>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700486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52B188-EF31-4F65-85E9-76461E193C9C}" type="datetimeFigureOut">
              <a:rPr lang="es-CO" smtClean="0"/>
              <a:t>20/10/2025</a:t>
            </a:fld>
            <a:endParaRPr lang="es-CO" dirty="0"/>
          </a:p>
        </p:txBody>
      </p:sp>
      <p:sp>
        <p:nvSpPr>
          <p:cNvPr id="3" name="Footer Placeholder 2"/>
          <p:cNvSpPr>
            <a:spLocks noGrp="1"/>
          </p:cNvSpPr>
          <p:nvPr>
            <p:ph type="ftr" sz="quarter" idx="11"/>
          </p:nvPr>
        </p:nvSpPr>
        <p:spPr/>
        <p:txBody>
          <a:bodyPr/>
          <a:lstStyle/>
          <a:p>
            <a:endParaRPr lang="es-CO" dirty="0"/>
          </a:p>
        </p:txBody>
      </p:sp>
      <p:sp>
        <p:nvSpPr>
          <p:cNvPr id="4" name="Slide Number Placeholder 3"/>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3423070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0352B188-EF31-4F65-85E9-76461E193C9C}" type="datetimeFigureOut">
              <a:rPr lang="es-CO" smtClean="0"/>
              <a:t>20/10/2025</a:t>
            </a:fld>
            <a:endParaRPr lang="es-CO" dirty="0"/>
          </a:p>
        </p:txBody>
      </p:sp>
      <p:sp>
        <p:nvSpPr>
          <p:cNvPr id="6" name="Footer Placeholder 5"/>
          <p:cNvSpPr>
            <a:spLocks noGrp="1"/>
          </p:cNvSpPr>
          <p:nvPr>
            <p:ph type="ftr" sz="quarter" idx="11"/>
          </p:nvPr>
        </p:nvSpPr>
        <p:spPr/>
        <p:txBody>
          <a:bodyPr/>
          <a:lstStyle/>
          <a:p>
            <a:endParaRPr lang="es-CO" dirty="0"/>
          </a:p>
        </p:txBody>
      </p:sp>
      <p:sp>
        <p:nvSpPr>
          <p:cNvPr id="7" name="Slide Number Placeholder 6"/>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274216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MX" dirty="0"/>
              <a:t>Haz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0352B188-EF31-4F65-85E9-76461E193C9C}" type="datetimeFigureOut">
              <a:rPr lang="es-CO" smtClean="0"/>
              <a:t>20/10/2025</a:t>
            </a:fld>
            <a:endParaRPr lang="es-CO" dirty="0"/>
          </a:p>
        </p:txBody>
      </p:sp>
      <p:sp>
        <p:nvSpPr>
          <p:cNvPr id="6" name="Footer Placeholder 5"/>
          <p:cNvSpPr>
            <a:spLocks noGrp="1"/>
          </p:cNvSpPr>
          <p:nvPr>
            <p:ph type="ftr" sz="quarter" idx="11"/>
          </p:nvPr>
        </p:nvSpPr>
        <p:spPr/>
        <p:txBody>
          <a:bodyPr/>
          <a:lstStyle/>
          <a:p>
            <a:endParaRPr lang="es-CO" dirty="0"/>
          </a:p>
        </p:txBody>
      </p:sp>
      <p:sp>
        <p:nvSpPr>
          <p:cNvPr id="7" name="Slide Number Placeholder 6"/>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4064524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0352B188-EF31-4F65-85E9-76461E193C9C}" type="datetimeFigureOut">
              <a:rPr lang="es-CO" smtClean="0"/>
              <a:t>20/10/2025</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898253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0352B188-EF31-4F65-85E9-76461E193C9C}" type="datetimeFigureOut">
              <a:rPr lang="es-CO" smtClean="0"/>
              <a:t>20/10/2025</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70219BE4-C8F3-4CE3-A9F3-4CE3624EB41B}" type="slidenum">
              <a:rPr lang="es-CO" smtClean="0"/>
              <a:t>‹Nº›</a:t>
            </a:fld>
            <a:endParaRPr lang="es-CO" dirty="0"/>
          </a:p>
        </p:txBody>
      </p:sp>
    </p:spTree>
    <p:extLst>
      <p:ext uri="{BB962C8B-B14F-4D97-AF65-F5344CB8AC3E}">
        <p14:creationId xmlns:p14="http://schemas.microsoft.com/office/powerpoint/2010/main" val="189473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52B188-EF31-4F65-85E9-76461E193C9C}" type="datetimeFigureOut">
              <a:rPr lang="es-CO" smtClean="0"/>
              <a:t>20/10/2025</a:t>
            </a:fld>
            <a:endParaRPr lang="es-CO"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219BE4-C8F3-4CE3-A9F3-4CE3624EB41B}" type="slidenum">
              <a:rPr lang="es-CO" smtClean="0"/>
              <a:t>‹Nº›</a:t>
            </a:fld>
            <a:endParaRPr lang="es-CO" dirty="0"/>
          </a:p>
        </p:txBody>
      </p:sp>
    </p:spTree>
    <p:extLst>
      <p:ext uri="{BB962C8B-B14F-4D97-AF65-F5344CB8AC3E}">
        <p14:creationId xmlns:p14="http://schemas.microsoft.com/office/powerpoint/2010/main" val="14823850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E95A6F-B6BD-4D3B-9CA4-851DD0E25E1A}"/>
              </a:ext>
            </a:extLst>
          </p:cNvPr>
          <p:cNvSpPr>
            <a:spLocks noGrp="1"/>
          </p:cNvSpPr>
          <p:nvPr>
            <p:ph type="ctrTitle"/>
          </p:nvPr>
        </p:nvSpPr>
        <p:spPr>
          <a:xfrm>
            <a:off x="335280" y="259398"/>
            <a:ext cx="11003280" cy="898842"/>
          </a:xfrm>
        </p:spPr>
        <p:txBody>
          <a:bodyPr>
            <a:normAutofit/>
          </a:bodyPr>
          <a:lstStyle/>
          <a:p>
            <a:pPr algn="l"/>
            <a:r>
              <a:rPr lang="es-MX" sz="3600" b="1" i="1" dirty="0">
                <a:latin typeface="Arial" panose="020B0604020202020204" pitchFamily="34" charset="0"/>
                <a:cs typeface="Arial" panose="020B0604020202020204" pitchFamily="34" charset="0"/>
              </a:rPr>
              <a:t>Gimnasio del Campo Juan de la Cruz Varela     </a:t>
            </a:r>
            <a:endParaRPr lang="es-CO" sz="3600" b="1" i="1" dirty="0">
              <a:latin typeface="Arial" panose="020B0604020202020204" pitchFamily="34" charset="0"/>
              <a:cs typeface="Arial" panose="020B0604020202020204" pitchFamily="34" charset="0"/>
            </a:endParaRPr>
          </a:p>
        </p:txBody>
      </p:sp>
      <p:sp>
        <p:nvSpPr>
          <p:cNvPr id="3" name="Subtítulo 2">
            <a:extLst>
              <a:ext uri="{FF2B5EF4-FFF2-40B4-BE49-F238E27FC236}">
                <a16:creationId xmlns:a16="http://schemas.microsoft.com/office/drawing/2014/main" id="{9697BD3D-BF1E-4041-99CD-A723090A48A9}"/>
              </a:ext>
            </a:extLst>
          </p:cNvPr>
          <p:cNvSpPr>
            <a:spLocks noGrp="1"/>
          </p:cNvSpPr>
          <p:nvPr>
            <p:ph type="subTitle" idx="1"/>
          </p:nvPr>
        </p:nvSpPr>
        <p:spPr>
          <a:xfrm>
            <a:off x="1188720" y="1082358"/>
            <a:ext cx="9144000" cy="898842"/>
          </a:xfrm>
        </p:spPr>
        <p:txBody>
          <a:bodyPr>
            <a:normAutofit fontScale="85000" lnSpcReduction="10000"/>
          </a:bodyPr>
          <a:lstStyle/>
          <a:p>
            <a:r>
              <a:rPr lang="es-MX" b="1" dirty="0"/>
              <a:t>Segunda sesión de pruebas.</a:t>
            </a:r>
          </a:p>
          <a:p>
            <a:r>
              <a:rPr lang="es-MX" b="1" dirty="0"/>
              <a:t>Área: </a:t>
            </a:r>
            <a:r>
              <a:rPr lang="es-MX" b="1" u="sng" dirty="0"/>
              <a:t>Ciencias Naturales</a:t>
            </a:r>
            <a:r>
              <a:rPr lang="es-MX" b="1" dirty="0"/>
              <a:t>. Asignatura: </a:t>
            </a:r>
            <a:r>
              <a:rPr lang="es-MX" b="1" u="sng" dirty="0"/>
              <a:t>Biología.</a:t>
            </a:r>
            <a:r>
              <a:rPr lang="es-MX" b="1" dirty="0"/>
              <a:t> Ciclo:</a:t>
            </a:r>
            <a:r>
              <a:rPr lang="es-MX" b="1" u="sng" dirty="0"/>
              <a:t> Cuatro (8 y 9)</a:t>
            </a:r>
            <a:r>
              <a:rPr lang="es-MX" b="1" dirty="0"/>
              <a:t>. Fecha………………</a:t>
            </a:r>
            <a:endParaRPr lang="es-CO" b="1" dirty="0"/>
          </a:p>
        </p:txBody>
      </p:sp>
      <p:sp>
        <p:nvSpPr>
          <p:cNvPr id="4" name="CuadroTexto 3">
            <a:extLst>
              <a:ext uri="{FF2B5EF4-FFF2-40B4-BE49-F238E27FC236}">
                <a16:creationId xmlns:a16="http://schemas.microsoft.com/office/drawing/2014/main" id="{986403DF-318C-4946-A3A0-D10342F1A0B6}"/>
              </a:ext>
            </a:extLst>
          </p:cNvPr>
          <p:cNvSpPr txBox="1"/>
          <p:nvPr/>
        </p:nvSpPr>
        <p:spPr>
          <a:xfrm>
            <a:off x="335280" y="1812677"/>
            <a:ext cx="11565172" cy="4832092"/>
          </a:xfrm>
          <a:prstGeom prst="rect">
            <a:avLst/>
          </a:prstGeom>
          <a:noFill/>
        </p:spPr>
        <p:txBody>
          <a:bodyPr wrap="square" rtlCol="0">
            <a:spAutoFit/>
          </a:bodyPr>
          <a:lstStyle/>
          <a:p>
            <a:r>
              <a:rPr lang="es-ES" sz="2200" b="1" dirty="0">
                <a:latin typeface="Arial" panose="020B0604020202020204" pitchFamily="34" charset="0"/>
                <a:cs typeface="Arial" panose="020B0604020202020204" pitchFamily="34" charset="0"/>
              </a:rPr>
              <a:t>LA INTERCONEXIÓN DE LA VIDA: ECOSISTEMAS Y BIODIVERSIDAD</a:t>
            </a:r>
          </a:p>
          <a:p>
            <a:r>
              <a:rPr lang="es-ES" sz="2200" dirty="0">
                <a:latin typeface="Arial" panose="020B0604020202020204" pitchFamily="34" charset="0"/>
                <a:cs typeface="Arial" panose="020B0604020202020204" pitchFamily="34" charset="0"/>
              </a:rPr>
              <a:t>Los seres vivos en la Tierra no existen de forma aislada; por el contrario, interactúan constantemente entre sí y con su entorno no vivo. Esta intrincada red de relaciones forma lo que conocemos como ecosistemas. Un ecosistema está compuesto por los componentes bióticos (todos los organismos vivos, como plantas, animales, hongos y microorganismos) y los componentes abióticos (factores físicos y químicos como el agua, el suelo, el aire, la luz solar y la temperatura).</a:t>
            </a:r>
          </a:p>
          <a:p>
            <a:r>
              <a:rPr lang="es-ES" sz="2200" dirty="0">
                <a:latin typeface="Arial" panose="020B0604020202020204" pitchFamily="34" charset="0"/>
                <a:cs typeface="Arial" panose="020B0604020202020204" pitchFamily="34" charset="0"/>
              </a:rPr>
              <a:t>Dentro de un ecosistema, la energía fluye de un nivel a otro. Las plantas, a través de la fotosíntesis, son los productores; convierten la energía solar en alimento. Los consumidores primarios (herbívoros) se alimentan de las plantas, mientras que los consumidores secundarios (carnívoros o omnívoros) se alimentan de los herbívoros. En la cima de la cadena alimenticia están los consumidores terciarios. Finalmente, los descomponedores (bacterias y hongos) cierran el ciclo, reciclando la materia orgánica muerta y devolviendo nutrientes al suelo, que son nuevamente utilizados por las plantas.</a:t>
            </a:r>
            <a:endParaRPr lang="es-MX" sz="2200"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1777C332-B8A1-4792-9ACD-F5C26990CEB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196830" y="503238"/>
            <a:ext cx="638810" cy="579120"/>
          </a:xfrm>
          <a:prstGeom prst="rect">
            <a:avLst/>
          </a:prstGeom>
          <a:noFill/>
        </p:spPr>
      </p:pic>
    </p:spTree>
    <p:extLst>
      <p:ext uri="{BB962C8B-B14F-4D97-AF65-F5344CB8AC3E}">
        <p14:creationId xmlns:p14="http://schemas.microsoft.com/office/powerpoint/2010/main" val="958053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3068779-6E31-07F6-7A64-B988249A554A}"/>
              </a:ext>
            </a:extLst>
          </p:cNvPr>
          <p:cNvSpPr>
            <a:spLocks noGrp="1"/>
          </p:cNvSpPr>
          <p:nvPr>
            <p:ph idx="1"/>
          </p:nvPr>
        </p:nvSpPr>
        <p:spPr>
          <a:xfrm>
            <a:off x="490330" y="490330"/>
            <a:ext cx="10863470" cy="5686633"/>
          </a:xfrm>
        </p:spPr>
        <p:txBody>
          <a:bodyPr>
            <a:normAutofit/>
          </a:bodyPr>
          <a:lstStyle/>
          <a:p>
            <a:pPr marL="0" indent="0">
              <a:buNone/>
            </a:pPr>
            <a:r>
              <a:rPr lang="es-ES" sz="2200" dirty="0">
                <a:latin typeface="Arial" panose="020B0604020202020204" pitchFamily="34" charset="0"/>
                <a:cs typeface="Arial" panose="020B0604020202020204" pitchFamily="34" charset="0"/>
              </a:rPr>
              <a:t>La biodiversidad se refiere a la variedad de vida en la Tierra, en todos sus niveles: desde los genes dentro de una especie, la diversidad de especies en un ecosistema, hasta la variedad de ecosistemas en un bioma o en todo el planeta. Una alta biodiversidad es crucial para la salud de los ecosistemas, ya que proporciona mayor resistencia ante los cambios ambientales, asegura la disponibilidad de recursos y ofrece una amplia gama de "servicios ecosistémicos" esenciales para la vida humana, como la purificación del agua, la polinización de cultivos y la regulación del clima.</a:t>
            </a:r>
          </a:p>
          <a:p>
            <a:pPr marL="0" indent="0">
              <a:buNone/>
            </a:pPr>
            <a:r>
              <a:rPr lang="es-ES" sz="2200" dirty="0">
                <a:latin typeface="Arial" panose="020B0604020202020204" pitchFamily="34" charset="0"/>
                <a:cs typeface="Arial" panose="020B0604020202020204" pitchFamily="34" charset="0"/>
              </a:rPr>
              <a:t>Lamentablemente, las actividades humanas como la deforestación, la contaminación, la sobreexplotación de recursos y el cambio climático están provocando una acelerada pérdida de biodiversidad. La extinción de una sola especie puede tener efectos dominó en todo un ecosistema, alterando las cadenas alimenticias y los ciclos de nutrientes, lo que a su vez afecta la capacidad del ecosistema para proporcionar sus servicios vitales. Es fundamental reconocer que nuestra propia supervivencia está intrínsecamente ligada a la salud de los ecosistemas y a la conservación de la biodiversidad.</a:t>
            </a:r>
            <a:endParaRPr lang="es-CO"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9888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423050-08B0-E708-FD68-5271616A35FA}"/>
              </a:ext>
            </a:extLst>
          </p:cNvPr>
          <p:cNvSpPr>
            <a:spLocks noGrp="1"/>
          </p:cNvSpPr>
          <p:nvPr>
            <p:ph type="title"/>
          </p:nvPr>
        </p:nvSpPr>
        <p:spPr>
          <a:xfrm>
            <a:off x="838200" y="434147"/>
            <a:ext cx="10515600" cy="1391478"/>
          </a:xfrm>
        </p:spPr>
        <p:txBody>
          <a:bodyPr>
            <a:normAutofit/>
          </a:bodyPr>
          <a:lstStyle/>
          <a:p>
            <a:r>
              <a:rPr lang="es-ES" sz="2200" dirty="0">
                <a:latin typeface="Arial" panose="020B0604020202020204" pitchFamily="34" charset="0"/>
                <a:cs typeface="Arial" panose="020B0604020202020204" pitchFamily="34" charset="0"/>
              </a:rPr>
              <a:t>Pregunta 1</a:t>
            </a:r>
            <a:br>
              <a:rPr lang="es-ES" sz="2200" dirty="0">
                <a:latin typeface="Arial" panose="020B0604020202020204" pitchFamily="34" charset="0"/>
                <a:cs typeface="Arial" panose="020B0604020202020204" pitchFamily="34" charset="0"/>
              </a:rPr>
            </a:br>
            <a:br>
              <a:rPr lang="es-ES" sz="2200" i="1" dirty="0">
                <a:latin typeface="Arial" panose="020B0604020202020204" pitchFamily="34" charset="0"/>
                <a:cs typeface="Arial" panose="020B0604020202020204" pitchFamily="34" charset="0"/>
              </a:rPr>
            </a:br>
            <a:r>
              <a:rPr lang="es-ES" sz="2200" i="1" dirty="0">
                <a:latin typeface="Arial" panose="020B0604020202020204" pitchFamily="34" charset="0"/>
                <a:cs typeface="Arial" panose="020B0604020202020204" pitchFamily="34" charset="0"/>
              </a:rPr>
              <a:t>Según la lectura, ¿cuál de las siguientes opciones describe correctamente la función de los descomponedores en un ecosistema?</a:t>
            </a:r>
            <a:endParaRPr lang="es-CO" sz="2200" i="1" dirty="0"/>
          </a:p>
        </p:txBody>
      </p:sp>
      <p:sp>
        <p:nvSpPr>
          <p:cNvPr id="3" name="Marcador de contenido 2">
            <a:extLst>
              <a:ext uri="{FF2B5EF4-FFF2-40B4-BE49-F238E27FC236}">
                <a16:creationId xmlns:a16="http://schemas.microsoft.com/office/drawing/2014/main" id="{B224C5B2-C1F5-FCEA-ABC2-19B068A875FC}"/>
              </a:ext>
            </a:extLst>
          </p:cNvPr>
          <p:cNvSpPr>
            <a:spLocks noGrp="1"/>
          </p:cNvSpPr>
          <p:nvPr>
            <p:ph idx="1"/>
          </p:nvPr>
        </p:nvSpPr>
        <p:spPr>
          <a:xfrm>
            <a:off x="1815548" y="2355713"/>
            <a:ext cx="9538252" cy="2958410"/>
          </a:xfrm>
        </p:spPr>
        <p:txBody>
          <a:bodyPr>
            <a:normAutofit/>
          </a:bodyPr>
          <a:lstStyle/>
          <a:p>
            <a:r>
              <a:rPr lang="es-CO" sz="2200" dirty="0">
                <a:latin typeface="Arial" panose="020B0604020202020204" pitchFamily="34" charset="0"/>
                <a:cs typeface="Arial" panose="020B0604020202020204" pitchFamily="34" charset="0"/>
              </a:rPr>
              <a:t>A. Convierten la energía solar en alimento, siendo la base de la cadena alimenticia.</a:t>
            </a:r>
          </a:p>
          <a:p>
            <a:r>
              <a:rPr lang="es-CO" sz="2200" dirty="0">
                <a:latin typeface="Arial" panose="020B0604020202020204" pitchFamily="34" charset="0"/>
                <a:cs typeface="Arial" panose="020B0604020202020204" pitchFamily="34" charset="0"/>
              </a:rPr>
              <a:t>B. Se alimentan de otros organismos para obtener energía, siendo herbívoros o carnívoros.</a:t>
            </a:r>
          </a:p>
          <a:p>
            <a:r>
              <a:rPr lang="es-CO" sz="2200" dirty="0">
                <a:latin typeface="Arial" panose="020B0604020202020204" pitchFamily="34" charset="0"/>
                <a:cs typeface="Arial" panose="020B0604020202020204" pitchFamily="34" charset="0"/>
              </a:rPr>
              <a:t>C. Reciclan la materia orgánica muerta, devolviendo nutrientes al suelo para las plantas.</a:t>
            </a:r>
          </a:p>
          <a:p>
            <a:r>
              <a:rPr lang="es-CO" sz="2200" dirty="0">
                <a:latin typeface="Arial" panose="020B0604020202020204" pitchFamily="34" charset="0"/>
                <a:cs typeface="Arial" panose="020B0604020202020204" pitchFamily="34" charset="0"/>
              </a:rPr>
              <a:t>D. Son los consumidores que están en la cima de la cadena alimenticia, sin depredadores.</a:t>
            </a:r>
          </a:p>
          <a:p>
            <a:endParaRPr lang="es-CO" sz="2200" dirty="0"/>
          </a:p>
        </p:txBody>
      </p:sp>
    </p:spTree>
    <p:extLst>
      <p:ext uri="{BB962C8B-B14F-4D97-AF65-F5344CB8AC3E}">
        <p14:creationId xmlns:p14="http://schemas.microsoft.com/office/powerpoint/2010/main" val="854240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04CE7-A4B2-A53C-15F3-7D6C388CF58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D6D1B81-B7AC-7E39-1B11-4C772F4A8FBE}"/>
              </a:ext>
            </a:extLst>
          </p:cNvPr>
          <p:cNvSpPr>
            <a:spLocks noGrp="1"/>
          </p:cNvSpPr>
          <p:nvPr>
            <p:ph type="title"/>
          </p:nvPr>
        </p:nvSpPr>
        <p:spPr>
          <a:xfrm>
            <a:off x="838200" y="434147"/>
            <a:ext cx="10515600" cy="1391478"/>
          </a:xfrm>
        </p:spPr>
        <p:txBody>
          <a:bodyPr>
            <a:noAutofit/>
          </a:bodyPr>
          <a:lstStyle/>
          <a:p>
            <a:r>
              <a:rPr lang="es-ES" sz="2200" dirty="0">
                <a:latin typeface="Arial" panose="020B0604020202020204" pitchFamily="34" charset="0"/>
                <a:cs typeface="Arial" panose="020B0604020202020204" pitchFamily="34" charset="0"/>
              </a:rPr>
              <a:t>Pregunta 2</a:t>
            </a:r>
            <a:br>
              <a:rPr lang="es-ES" sz="2200" dirty="0">
                <a:latin typeface="Arial" panose="020B0604020202020204" pitchFamily="34" charset="0"/>
                <a:cs typeface="Arial" panose="020B0604020202020204" pitchFamily="34" charset="0"/>
              </a:rPr>
            </a:br>
            <a:br>
              <a:rPr lang="es-ES" sz="2200" i="1" dirty="0">
                <a:latin typeface="Arial" panose="020B0604020202020204" pitchFamily="34" charset="0"/>
                <a:cs typeface="Arial" panose="020B0604020202020204" pitchFamily="34" charset="0"/>
              </a:rPr>
            </a:br>
            <a:r>
              <a:rPr lang="es-ES" sz="2200" i="1" dirty="0">
                <a:latin typeface="Arial" panose="020B0604020202020204" pitchFamily="34" charset="0"/>
                <a:cs typeface="Arial" panose="020B0604020202020204" pitchFamily="34" charset="0"/>
              </a:rPr>
              <a:t>La lectura enfatiza que la biodiversidad es crucial para la salud de los ecosistemas. ¿Cuál de las siguientes situaciones ejemplifica mejor el impacto negativo de una baja biodiversidad?</a:t>
            </a:r>
            <a:endParaRPr lang="es-CO" sz="2200" i="1" dirty="0"/>
          </a:p>
        </p:txBody>
      </p:sp>
      <p:sp>
        <p:nvSpPr>
          <p:cNvPr id="3" name="Marcador de contenido 2">
            <a:extLst>
              <a:ext uri="{FF2B5EF4-FFF2-40B4-BE49-F238E27FC236}">
                <a16:creationId xmlns:a16="http://schemas.microsoft.com/office/drawing/2014/main" id="{DF8ED18B-DEC3-2F60-F98C-FD7F53622A2D}"/>
              </a:ext>
            </a:extLst>
          </p:cNvPr>
          <p:cNvSpPr>
            <a:spLocks noGrp="1"/>
          </p:cNvSpPr>
          <p:nvPr>
            <p:ph idx="1"/>
          </p:nvPr>
        </p:nvSpPr>
        <p:spPr>
          <a:xfrm>
            <a:off x="1815548" y="2355713"/>
            <a:ext cx="9538252" cy="2958410"/>
          </a:xfrm>
        </p:spPr>
        <p:txBody>
          <a:bodyPr>
            <a:normAutofit/>
          </a:bodyPr>
          <a:lstStyle/>
          <a:p>
            <a:r>
              <a:rPr lang="es-ES" sz="2200" dirty="0">
                <a:latin typeface="Arial" panose="020B0604020202020204" pitchFamily="34" charset="0"/>
                <a:cs typeface="Arial" panose="020B0604020202020204" pitchFamily="34" charset="0"/>
              </a:rPr>
              <a:t>A. Un bosque con muchas especies de árboles, aves e insectos que se recupera rápidamente de una plaga.</a:t>
            </a:r>
          </a:p>
          <a:p>
            <a:r>
              <a:rPr lang="es-ES" sz="2200" dirty="0">
                <a:latin typeface="Arial" panose="020B0604020202020204" pitchFamily="34" charset="0"/>
                <a:cs typeface="Arial" panose="020B0604020202020204" pitchFamily="34" charset="0"/>
              </a:rPr>
              <a:t>B. Un cultivo de una única especie de banano que es completamente devastado por una nueva enfermedad.</a:t>
            </a:r>
          </a:p>
          <a:p>
            <a:r>
              <a:rPr lang="es-ES" sz="2200" dirty="0">
                <a:latin typeface="Arial" panose="020B0604020202020204" pitchFamily="34" charset="0"/>
                <a:cs typeface="Arial" panose="020B0604020202020204" pitchFamily="34" charset="0"/>
              </a:rPr>
              <a:t>C. Un lago con una gran variedad de peces y plantas acuáticas que mantiene su calidad de agua.</a:t>
            </a:r>
          </a:p>
          <a:p>
            <a:r>
              <a:rPr lang="es-ES" sz="2200" dirty="0">
                <a:latin typeface="Arial" panose="020B0604020202020204" pitchFamily="34" charset="0"/>
                <a:cs typeface="Arial" panose="020B0604020202020204" pitchFamily="34" charset="0"/>
              </a:rPr>
              <a:t>D. Una selva tropical con miles de especies interconectadas que provee agua pura a una comunidad cercana.</a:t>
            </a:r>
          </a:p>
          <a:p>
            <a:endParaRPr lang="es-CO" sz="2200" dirty="0"/>
          </a:p>
        </p:txBody>
      </p:sp>
    </p:spTree>
    <p:extLst>
      <p:ext uri="{BB962C8B-B14F-4D97-AF65-F5344CB8AC3E}">
        <p14:creationId xmlns:p14="http://schemas.microsoft.com/office/powerpoint/2010/main" val="3559836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D31E3-86AF-7BC2-FC92-AE20729C9C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BD84134-E33D-BDBF-8CCA-82CD022B9788}"/>
              </a:ext>
            </a:extLst>
          </p:cNvPr>
          <p:cNvSpPr>
            <a:spLocks noGrp="1"/>
          </p:cNvSpPr>
          <p:nvPr>
            <p:ph type="title"/>
          </p:nvPr>
        </p:nvSpPr>
        <p:spPr>
          <a:xfrm>
            <a:off x="838200" y="434147"/>
            <a:ext cx="10515600" cy="1391478"/>
          </a:xfrm>
        </p:spPr>
        <p:txBody>
          <a:bodyPr>
            <a:normAutofit/>
          </a:bodyPr>
          <a:lstStyle/>
          <a:p>
            <a:r>
              <a:rPr lang="es-ES" sz="2200" dirty="0">
                <a:latin typeface="Arial" panose="020B0604020202020204" pitchFamily="34" charset="0"/>
                <a:cs typeface="Arial" panose="020B0604020202020204" pitchFamily="34" charset="0"/>
              </a:rPr>
              <a:t>Pregunta 3</a:t>
            </a:r>
            <a:br>
              <a:rPr lang="es-ES" sz="2200" dirty="0">
                <a:latin typeface="Arial" panose="020B0604020202020204" pitchFamily="34" charset="0"/>
                <a:cs typeface="Arial" panose="020B0604020202020204" pitchFamily="34" charset="0"/>
              </a:rPr>
            </a:br>
            <a:br>
              <a:rPr lang="es-ES" sz="2200" i="1" dirty="0">
                <a:latin typeface="Arial" panose="020B0604020202020204" pitchFamily="34" charset="0"/>
                <a:cs typeface="Arial" panose="020B0604020202020204" pitchFamily="34" charset="0"/>
              </a:rPr>
            </a:br>
            <a:r>
              <a:rPr lang="es-ES" sz="2200" i="1" dirty="0">
                <a:latin typeface="Arial" panose="020B0604020202020204" pitchFamily="34" charset="0"/>
                <a:cs typeface="Arial" panose="020B0604020202020204" pitchFamily="34" charset="0"/>
              </a:rPr>
              <a:t>A partir de la información proporcionada en el texto, ¿qué se puede inferir sobre la relación entre los componentes bióticos y abióticos en un ecosistema?</a:t>
            </a:r>
            <a:endParaRPr lang="es-CO" sz="2200" i="1" dirty="0"/>
          </a:p>
        </p:txBody>
      </p:sp>
      <p:sp>
        <p:nvSpPr>
          <p:cNvPr id="3" name="Marcador de contenido 2">
            <a:extLst>
              <a:ext uri="{FF2B5EF4-FFF2-40B4-BE49-F238E27FC236}">
                <a16:creationId xmlns:a16="http://schemas.microsoft.com/office/drawing/2014/main" id="{68D21C89-9B59-6BBC-76AD-EA5350C821D3}"/>
              </a:ext>
            </a:extLst>
          </p:cNvPr>
          <p:cNvSpPr>
            <a:spLocks noGrp="1"/>
          </p:cNvSpPr>
          <p:nvPr>
            <p:ph idx="1"/>
          </p:nvPr>
        </p:nvSpPr>
        <p:spPr>
          <a:xfrm>
            <a:off x="1815548" y="2355713"/>
            <a:ext cx="9538252" cy="2958410"/>
          </a:xfrm>
        </p:spPr>
        <p:txBody>
          <a:bodyPr>
            <a:normAutofit/>
          </a:bodyPr>
          <a:lstStyle/>
          <a:p>
            <a:r>
              <a:rPr lang="es-ES" sz="2200" dirty="0">
                <a:latin typeface="Arial" panose="020B0604020202020204" pitchFamily="34" charset="0"/>
                <a:cs typeface="Arial" panose="020B0604020202020204" pitchFamily="34" charset="0"/>
              </a:rPr>
              <a:t>A. Los componentes bióticos pueden sobrevivir sin la presencia de componentes abióticos, ya que son independientes.</a:t>
            </a:r>
          </a:p>
          <a:p>
            <a:r>
              <a:rPr lang="es-ES" sz="2200" dirty="0">
                <a:latin typeface="Arial" panose="020B0604020202020204" pitchFamily="34" charset="0"/>
                <a:cs typeface="Arial" panose="020B0604020202020204" pitchFamily="34" charset="0"/>
              </a:rPr>
              <a:t>B. Los componentes abióticos determinan la vida, pero no son afectados por las interacciones de los seres vivos.</a:t>
            </a:r>
          </a:p>
          <a:p>
            <a:r>
              <a:rPr lang="es-ES" sz="2200" dirty="0">
                <a:latin typeface="Arial" panose="020B0604020202020204" pitchFamily="34" charset="0"/>
                <a:cs typeface="Arial" panose="020B0604020202020204" pitchFamily="34" charset="0"/>
              </a:rPr>
              <a:t>C. Existe una interacción constante y bidireccional, donde ambos tipos de componentes se influyen mutuamente.</a:t>
            </a:r>
          </a:p>
          <a:p>
            <a:r>
              <a:rPr lang="es-ES" sz="2200" dirty="0">
                <a:latin typeface="Arial" panose="020B0604020202020204" pitchFamily="34" charset="0"/>
                <a:cs typeface="Arial" panose="020B0604020202020204" pitchFamily="34" charset="0"/>
              </a:rPr>
              <a:t>D. Solo los componentes bióticos de gran tamaño, como los animales, influyen significativamente en los abióticos.</a:t>
            </a:r>
          </a:p>
          <a:p>
            <a:endParaRPr lang="es-CO" sz="2200" dirty="0">
              <a:latin typeface="Arial" panose="020B0604020202020204" pitchFamily="34" charset="0"/>
              <a:cs typeface="Arial" panose="020B0604020202020204" pitchFamily="34" charset="0"/>
            </a:endParaRPr>
          </a:p>
          <a:p>
            <a:endParaRPr lang="es-CO" sz="2200" dirty="0"/>
          </a:p>
        </p:txBody>
      </p:sp>
    </p:spTree>
    <p:extLst>
      <p:ext uri="{BB962C8B-B14F-4D97-AF65-F5344CB8AC3E}">
        <p14:creationId xmlns:p14="http://schemas.microsoft.com/office/powerpoint/2010/main" val="1048378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47299-0864-86AE-A25B-8A4C4C2EF31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1F708A5-09AB-9872-5AE4-FD2F5035CC15}"/>
              </a:ext>
            </a:extLst>
          </p:cNvPr>
          <p:cNvSpPr>
            <a:spLocks noGrp="1"/>
          </p:cNvSpPr>
          <p:nvPr>
            <p:ph type="title"/>
          </p:nvPr>
        </p:nvSpPr>
        <p:spPr>
          <a:xfrm>
            <a:off x="838200" y="434147"/>
            <a:ext cx="10515600" cy="1391478"/>
          </a:xfrm>
        </p:spPr>
        <p:txBody>
          <a:bodyPr>
            <a:noAutofit/>
          </a:bodyPr>
          <a:lstStyle/>
          <a:p>
            <a:r>
              <a:rPr lang="es-ES" sz="2200" dirty="0">
                <a:latin typeface="Arial" panose="020B0604020202020204" pitchFamily="34" charset="0"/>
                <a:cs typeface="Arial" panose="020B0604020202020204" pitchFamily="34" charset="0"/>
              </a:rPr>
              <a:t>Pregunta 4</a:t>
            </a:r>
            <a:br>
              <a:rPr lang="es-ES" sz="2200" dirty="0">
                <a:latin typeface="Arial" panose="020B0604020202020204" pitchFamily="34" charset="0"/>
                <a:cs typeface="Arial" panose="020B0604020202020204" pitchFamily="34" charset="0"/>
              </a:rPr>
            </a:br>
            <a:br>
              <a:rPr lang="es-ES" sz="2200" i="1" dirty="0">
                <a:latin typeface="Arial" panose="020B0604020202020204" pitchFamily="34" charset="0"/>
                <a:cs typeface="Arial" panose="020B0604020202020204" pitchFamily="34" charset="0"/>
              </a:rPr>
            </a:br>
            <a:r>
              <a:rPr lang="es-ES" sz="2200" i="1" dirty="0">
                <a:latin typeface="Arial" panose="020B0604020202020204" pitchFamily="34" charset="0"/>
                <a:cs typeface="Arial" panose="020B0604020202020204" pitchFamily="34" charset="0"/>
              </a:rPr>
              <a:t>Si una especie clave de un ecosistema (por ejemplo, un polinizador vital) se extinguiera debido a la contaminación, ¿cuál sería la consecuencia más probable a largo plazo, según el texto?</a:t>
            </a:r>
            <a:endParaRPr lang="es-CO" sz="2200" i="1" dirty="0"/>
          </a:p>
        </p:txBody>
      </p:sp>
      <p:sp>
        <p:nvSpPr>
          <p:cNvPr id="3" name="Marcador de contenido 2">
            <a:extLst>
              <a:ext uri="{FF2B5EF4-FFF2-40B4-BE49-F238E27FC236}">
                <a16:creationId xmlns:a16="http://schemas.microsoft.com/office/drawing/2014/main" id="{E00B9C67-B14D-6739-0130-B85CE8C3F446}"/>
              </a:ext>
            </a:extLst>
          </p:cNvPr>
          <p:cNvSpPr>
            <a:spLocks noGrp="1"/>
          </p:cNvSpPr>
          <p:nvPr>
            <p:ph idx="1"/>
          </p:nvPr>
        </p:nvSpPr>
        <p:spPr>
          <a:xfrm>
            <a:off x="1815548" y="2355713"/>
            <a:ext cx="9538252" cy="2958410"/>
          </a:xfrm>
        </p:spPr>
        <p:txBody>
          <a:bodyPr>
            <a:normAutofit/>
          </a:bodyPr>
          <a:lstStyle/>
          <a:p>
            <a:r>
              <a:rPr lang="es-ES" sz="2200" dirty="0">
                <a:latin typeface="Arial" panose="020B0604020202020204" pitchFamily="34" charset="0"/>
                <a:cs typeface="Arial" panose="020B0604020202020204" pitchFamily="34" charset="0"/>
              </a:rPr>
              <a:t>A. Los descomponedores aumentarían su actividad, mejorando el reciclaje de nutrientes.</a:t>
            </a:r>
          </a:p>
          <a:p>
            <a:r>
              <a:rPr lang="es-ES" sz="2200" dirty="0">
                <a:latin typeface="Arial" panose="020B0604020202020204" pitchFamily="34" charset="0"/>
                <a:cs typeface="Arial" panose="020B0604020202020204" pitchFamily="34" charset="0"/>
              </a:rPr>
              <a:t>B. La cadena alimenticia se fortalecería debido a la eliminación de un eslabón débil.</a:t>
            </a:r>
          </a:p>
          <a:p>
            <a:r>
              <a:rPr lang="es-ES" sz="2200" dirty="0">
                <a:latin typeface="Arial" panose="020B0604020202020204" pitchFamily="34" charset="0"/>
                <a:cs typeface="Arial" panose="020B0604020202020204" pitchFamily="34" charset="0"/>
              </a:rPr>
              <a:t>C. Podría haber un efecto dominó, alterando otras cadenas alimenticias y servicios ecosistémicos.</a:t>
            </a:r>
          </a:p>
          <a:p>
            <a:r>
              <a:rPr lang="es-ES" sz="2200" dirty="0">
                <a:latin typeface="Arial" panose="020B0604020202020204" pitchFamily="34" charset="0"/>
                <a:cs typeface="Arial" panose="020B0604020202020204" pitchFamily="34" charset="0"/>
              </a:rPr>
              <a:t>D. Las plantas se adaptarían rápidamente y encontrarían un nuevo polinizador sin mayores problemas.</a:t>
            </a:r>
            <a:endParaRPr lang="es-CO" sz="2200" dirty="0"/>
          </a:p>
        </p:txBody>
      </p:sp>
    </p:spTree>
    <p:extLst>
      <p:ext uri="{BB962C8B-B14F-4D97-AF65-F5344CB8AC3E}">
        <p14:creationId xmlns:p14="http://schemas.microsoft.com/office/powerpoint/2010/main" val="1428644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F15CE-3720-9127-2276-07BBC78F5FC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B321618-A962-6836-7C85-D644D2949618}"/>
              </a:ext>
            </a:extLst>
          </p:cNvPr>
          <p:cNvSpPr>
            <a:spLocks noGrp="1"/>
          </p:cNvSpPr>
          <p:nvPr>
            <p:ph type="title"/>
          </p:nvPr>
        </p:nvSpPr>
        <p:spPr>
          <a:xfrm>
            <a:off x="838200" y="434147"/>
            <a:ext cx="10515600" cy="1391478"/>
          </a:xfrm>
        </p:spPr>
        <p:txBody>
          <a:bodyPr>
            <a:normAutofit/>
          </a:bodyPr>
          <a:lstStyle/>
          <a:p>
            <a:r>
              <a:rPr lang="es-ES" sz="2200" dirty="0">
                <a:latin typeface="Arial" panose="020B0604020202020204" pitchFamily="34" charset="0"/>
                <a:cs typeface="Arial" panose="020B0604020202020204" pitchFamily="34" charset="0"/>
              </a:rPr>
              <a:t>Pregunta 5</a:t>
            </a:r>
            <a:br>
              <a:rPr lang="es-ES" sz="2200" dirty="0">
                <a:latin typeface="Arial" panose="020B0604020202020204" pitchFamily="34" charset="0"/>
                <a:cs typeface="Arial" panose="020B0604020202020204" pitchFamily="34" charset="0"/>
              </a:rPr>
            </a:br>
            <a:br>
              <a:rPr lang="es-ES" sz="2200" i="1" dirty="0">
                <a:latin typeface="Arial" panose="020B0604020202020204" pitchFamily="34" charset="0"/>
                <a:cs typeface="Arial" panose="020B0604020202020204" pitchFamily="34" charset="0"/>
              </a:rPr>
            </a:br>
            <a:r>
              <a:rPr lang="es-ES" sz="2200" i="1" dirty="0">
                <a:latin typeface="Arial" panose="020B0604020202020204" pitchFamily="34" charset="0"/>
                <a:cs typeface="Arial" panose="020B0604020202020204" pitchFamily="34" charset="0"/>
              </a:rPr>
              <a:t>Si en un ecosistema donde hay extinción de los consumidores de tercer orden (carnívoros) de la cadena alimenticia podría pasar:</a:t>
            </a:r>
            <a:endParaRPr lang="es-CO" sz="2200" i="1" dirty="0"/>
          </a:p>
        </p:txBody>
      </p:sp>
      <p:sp>
        <p:nvSpPr>
          <p:cNvPr id="3" name="Marcador de contenido 2">
            <a:extLst>
              <a:ext uri="{FF2B5EF4-FFF2-40B4-BE49-F238E27FC236}">
                <a16:creationId xmlns:a16="http://schemas.microsoft.com/office/drawing/2014/main" id="{280D8604-E3C3-469D-2327-C108DC23AEE9}"/>
              </a:ext>
            </a:extLst>
          </p:cNvPr>
          <p:cNvSpPr>
            <a:spLocks noGrp="1"/>
          </p:cNvSpPr>
          <p:nvPr>
            <p:ph idx="1"/>
          </p:nvPr>
        </p:nvSpPr>
        <p:spPr>
          <a:xfrm>
            <a:off x="1815548" y="2355713"/>
            <a:ext cx="9538252" cy="2958410"/>
          </a:xfrm>
        </p:spPr>
        <p:txBody>
          <a:bodyPr>
            <a:normAutofit/>
          </a:bodyPr>
          <a:lstStyle/>
          <a:p>
            <a:r>
              <a:rPr lang="es-ES" sz="2200" dirty="0">
                <a:latin typeface="Arial" panose="020B0604020202020204" pitchFamily="34" charset="0"/>
                <a:cs typeface="Arial" panose="020B0604020202020204" pitchFamily="34" charset="0"/>
              </a:rPr>
              <a:t>A.	Aumenta la cantidad de productores en la cadena alimenticia.</a:t>
            </a:r>
          </a:p>
          <a:p>
            <a:r>
              <a:rPr lang="es-ES" sz="2200" dirty="0">
                <a:latin typeface="Arial" panose="020B0604020202020204" pitchFamily="34" charset="0"/>
                <a:cs typeface="Arial" panose="020B0604020202020204" pitchFamily="34" charset="0"/>
              </a:rPr>
              <a:t>B.	Disminuye la cantidad de consumidores de primer y segundo orden en una cadena alimenticia</a:t>
            </a:r>
          </a:p>
          <a:p>
            <a:r>
              <a:rPr lang="es-ES" sz="2200" dirty="0">
                <a:latin typeface="Arial" panose="020B0604020202020204" pitchFamily="34" charset="0"/>
                <a:cs typeface="Arial" panose="020B0604020202020204" pitchFamily="34" charset="0"/>
              </a:rPr>
              <a:t>C.	Aumente la cantidad de descomponedores en una cadena alimenticia.</a:t>
            </a:r>
          </a:p>
          <a:p>
            <a:r>
              <a:rPr lang="es-ES" sz="2200" dirty="0">
                <a:latin typeface="Arial" panose="020B0604020202020204" pitchFamily="34" charset="0"/>
                <a:cs typeface="Arial" panose="020B0604020202020204" pitchFamily="34" charset="0"/>
              </a:rPr>
              <a:t>D.	Aumentan la cantidad de consumidores de primer y segundo orden en una cadena Alimenticia.</a:t>
            </a:r>
          </a:p>
          <a:p>
            <a:endParaRPr lang="es-CO" sz="2200" dirty="0"/>
          </a:p>
        </p:txBody>
      </p:sp>
    </p:spTree>
    <p:extLst>
      <p:ext uri="{BB962C8B-B14F-4D97-AF65-F5344CB8AC3E}">
        <p14:creationId xmlns:p14="http://schemas.microsoft.com/office/powerpoint/2010/main" val="2901442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318B1-DACE-C214-AD01-A44FE26207D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6915871-6664-3568-426E-1328EC33651A}"/>
              </a:ext>
            </a:extLst>
          </p:cNvPr>
          <p:cNvSpPr>
            <a:spLocks noGrp="1"/>
          </p:cNvSpPr>
          <p:nvPr>
            <p:ph type="ctrTitle"/>
          </p:nvPr>
        </p:nvSpPr>
        <p:spPr>
          <a:xfrm>
            <a:off x="335280" y="53817"/>
            <a:ext cx="11003280" cy="898842"/>
          </a:xfrm>
        </p:spPr>
        <p:txBody>
          <a:bodyPr>
            <a:normAutofit/>
          </a:bodyPr>
          <a:lstStyle/>
          <a:p>
            <a:pPr algn="l"/>
            <a:r>
              <a:rPr lang="es-MX" sz="3600" b="1" i="1" dirty="0">
                <a:latin typeface="Arial" panose="020B0604020202020204" pitchFamily="34" charset="0"/>
                <a:cs typeface="Arial" panose="020B0604020202020204" pitchFamily="34" charset="0"/>
              </a:rPr>
              <a:t>Gimnasio del Campo Juan de la Cruz Varela     </a:t>
            </a:r>
            <a:endParaRPr lang="es-CO" sz="3600" b="1" i="1" dirty="0">
              <a:latin typeface="Arial" panose="020B0604020202020204" pitchFamily="34" charset="0"/>
              <a:cs typeface="Arial" panose="020B0604020202020204" pitchFamily="34" charset="0"/>
            </a:endParaRPr>
          </a:p>
        </p:txBody>
      </p:sp>
      <p:sp>
        <p:nvSpPr>
          <p:cNvPr id="3" name="Subtítulo 2">
            <a:extLst>
              <a:ext uri="{FF2B5EF4-FFF2-40B4-BE49-F238E27FC236}">
                <a16:creationId xmlns:a16="http://schemas.microsoft.com/office/drawing/2014/main" id="{EFF1B20C-ADEF-EC55-0C67-B88A95BB12ED}"/>
              </a:ext>
            </a:extLst>
          </p:cNvPr>
          <p:cNvSpPr>
            <a:spLocks noGrp="1"/>
          </p:cNvSpPr>
          <p:nvPr>
            <p:ph type="subTitle" idx="1"/>
          </p:nvPr>
        </p:nvSpPr>
        <p:spPr>
          <a:xfrm>
            <a:off x="1264920" y="952659"/>
            <a:ext cx="9144000" cy="898842"/>
          </a:xfrm>
        </p:spPr>
        <p:txBody>
          <a:bodyPr>
            <a:normAutofit fontScale="85000" lnSpcReduction="10000"/>
          </a:bodyPr>
          <a:lstStyle/>
          <a:p>
            <a:r>
              <a:rPr lang="es-MX" b="1" dirty="0"/>
              <a:t>Segunda sesión de pruebas.</a:t>
            </a:r>
          </a:p>
          <a:p>
            <a:r>
              <a:rPr lang="es-MX" b="1" dirty="0"/>
              <a:t>Área: </a:t>
            </a:r>
            <a:r>
              <a:rPr lang="es-MX" b="1" u="sng" dirty="0"/>
              <a:t>Ciencias Naturales</a:t>
            </a:r>
            <a:r>
              <a:rPr lang="es-MX" b="1" dirty="0"/>
              <a:t>. Asignatura: </a:t>
            </a:r>
            <a:r>
              <a:rPr lang="es-MX" b="1" u="sng" dirty="0"/>
              <a:t>Química.</a:t>
            </a:r>
            <a:r>
              <a:rPr lang="es-MX" b="1" dirty="0"/>
              <a:t> Ciclo:</a:t>
            </a:r>
            <a:r>
              <a:rPr lang="es-MX" b="1" u="sng" dirty="0"/>
              <a:t> Cuatro (8 y 9)</a:t>
            </a:r>
            <a:r>
              <a:rPr lang="es-MX" b="1" dirty="0"/>
              <a:t>. Fecha………………</a:t>
            </a:r>
            <a:endParaRPr lang="es-CO" b="1" dirty="0"/>
          </a:p>
        </p:txBody>
      </p:sp>
      <p:sp>
        <p:nvSpPr>
          <p:cNvPr id="4" name="CuadroTexto 3">
            <a:extLst>
              <a:ext uri="{FF2B5EF4-FFF2-40B4-BE49-F238E27FC236}">
                <a16:creationId xmlns:a16="http://schemas.microsoft.com/office/drawing/2014/main" id="{EC145B23-82AD-3D02-14FB-D05F6550888F}"/>
              </a:ext>
            </a:extLst>
          </p:cNvPr>
          <p:cNvSpPr txBox="1"/>
          <p:nvPr/>
        </p:nvSpPr>
        <p:spPr>
          <a:xfrm>
            <a:off x="335280" y="1633537"/>
            <a:ext cx="11565172" cy="4832092"/>
          </a:xfrm>
          <a:prstGeom prst="rect">
            <a:avLst/>
          </a:prstGeom>
          <a:noFill/>
        </p:spPr>
        <p:txBody>
          <a:bodyPr wrap="square" rtlCol="0">
            <a:spAutoFit/>
          </a:bodyPr>
          <a:lstStyle/>
          <a:p>
            <a:r>
              <a:rPr lang="es-CO" sz="2200" b="1" cap="all" dirty="0">
                <a:latin typeface="Arial" panose="020B0604020202020204" pitchFamily="34" charset="0"/>
                <a:cs typeface="Arial" panose="020B0604020202020204" pitchFamily="34" charset="0"/>
              </a:rPr>
              <a:t>Lectura de Química: La Materia y sus Transformaciones</a:t>
            </a:r>
          </a:p>
          <a:p>
            <a:r>
              <a:rPr lang="es-CO" sz="2200" dirty="0">
                <a:latin typeface="Arial" panose="020B0604020202020204" pitchFamily="34" charset="0"/>
                <a:cs typeface="Arial" panose="020B0604020202020204" pitchFamily="34" charset="0"/>
              </a:rPr>
              <a:t>La química es la ciencia que estudia la materia, sus propiedades, su composición y las transformaciones que experimenta. Todo lo que nos rodea, desde el aire que respiramos hasta los alimentos que comemos y los objetos que usamos, está hecho de materia.</a:t>
            </a:r>
          </a:p>
          <a:p>
            <a:r>
              <a:rPr lang="es-CO" sz="2200" dirty="0">
                <a:latin typeface="Arial" panose="020B0604020202020204" pitchFamily="34" charset="0"/>
                <a:cs typeface="Arial" panose="020B0604020202020204" pitchFamily="34" charset="0"/>
              </a:rPr>
              <a:t>La materia se presenta en diferentes estados de agregación: sólido, líquido y gaseoso. Cada estado tiene características propias: los sólidos tienen forma y volumen definidos; los líquidos tienen volumen definido pero toman la forma del recipiente; y los gases no tienen ni forma ni volumen definidos, ocupando todo el espacio disponible.</a:t>
            </a:r>
          </a:p>
          <a:p>
            <a:r>
              <a:rPr lang="es-CO" sz="2200" dirty="0">
                <a:latin typeface="Arial" panose="020B0604020202020204" pitchFamily="34" charset="0"/>
                <a:cs typeface="Arial" panose="020B0604020202020204" pitchFamily="34" charset="0"/>
              </a:rPr>
              <a:t>Podemos clasificar las propiedades de la materia en propiedades físicas y propiedades químicas. Las propiedades físicas son aquellas que se pueden observar o medir sin cambiar la composición de la sustancia, como el punto de ebullición, la densidad, el color o el estado de agregación. Por ejemplo, el agua hierve a 100°C (propiedad física). Las propiedades químicas, por otro lado, describen cómo una sustancia reacciona con otra para formar nuevas sustancias, es decir, cómo cambia su composición. </a:t>
            </a:r>
          </a:p>
        </p:txBody>
      </p:sp>
      <p:pic>
        <p:nvPicPr>
          <p:cNvPr id="5" name="Imagen 4">
            <a:extLst>
              <a:ext uri="{FF2B5EF4-FFF2-40B4-BE49-F238E27FC236}">
                <a16:creationId xmlns:a16="http://schemas.microsoft.com/office/drawing/2014/main" id="{31E25535-A99F-B377-E980-A4F66A8DE4C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196830" y="503238"/>
            <a:ext cx="638810" cy="579120"/>
          </a:xfrm>
          <a:prstGeom prst="rect">
            <a:avLst/>
          </a:prstGeom>
          <a:noFill/>
        </p:spPr>
      </p:pic>
    </p:spTree>
    <p:extLst>
      <p:ext uri="{BB962C8B-B14F-4D97-AF65-F5344CB8AC3E}">
        <p14:creationId xmlns:p14="http://schemas.microsoft.com/office/powerpoint/2010/main" val="4264711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C5277-8D3A-5EF7-A097-C9AB3FB9DD38}"/>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1F2835-6B1C-7320-31D7-509677C13BB4}"/>
              </a:ext>
            </a:extLst>
          </p:cNvPr>
          <p:cNvSpPr>
            <a:spLocks noGrp="1"/>
          </p:cNvSpPr>
          <p:nvPr>
            <p:ph idx="1"/>
          </p:nvPr>
        </p:nvSpPr>
        <p:spPr>
          <a:xfrm>
            <a:off x="664265" y="967409"/>
            <a:ext cx="10863470" cy="4572000"/>
          </a:xfrm>
        </p:spPr>
        <p:txBody>
          <a:bodyPr>
            <a:normAutofit/>
          </a:bodyPr>
          <a:lstStyle/>
          <a:p>
            <a:pPr marL="0" indent="0">
              <a:buNone/>
            </a:pPr>
            <a:r>
              <a:rPr lang="es-CO" sz="2200" dirty="0">
                <a:latin typeface="Arial" panose="020B0604020202020204" pitchFamily="34" charset="0"/>
                <a:cs typeface="Arial" panose="020B0604020202020204" pitchFamily="34" charset="0"/>
              </a:rPr>
              <a:t>Un ejemplo es la inflamabilidad del papel, que al quemarse se transforma en cenizas y gases (propiedad química).</a:t>
            </a:r>
          </a:p>
          <a:p>
            <a:pPr marL="0" indent="0">
              <a:buNone/>
            </a:pPr>
            <a:r>
              <a:rPr lang="es-CO" sz="2200" dirty="0">
                <a:latin typeface="Arial" panose="020B0604020202020204" pitchFamily="34" charset="0"/>
                <a:cs typeface="Arial" panose="020B0604020202020204" pitchFamily="34" charset="0"/>
              </a:rPr>
              <a:t>Las sustancias puras son aquellas que tienen una composición definida y constante, como el agua (H₂O) o el oxígeno (O₂). Estas pueden ser elementos (sustancias puras que no pueden descomponerse en otras más simples por métodos químicos, como el oro o el carbono) o compuestos (sustancias formadas por la unión química de dos o más elementos en proporciones fijas, como el dióxido de carbono o la sal de mesa).</a:t>
            </a:r>
          </a:p>
          <a:p>
            <a:pPr marL="0" indent="0">
              <a:buNone/>
            </a:pPr>
            <a:r>
              <a:rPr lang="es-CO" sz="2200" dirty="0">
                <a:latin typeface="Arial" panose="020B0604020202020204" pitchFamily="34" charset="0"/>
                <a:cs typeface="Arial" panose="020B0604020202020204" pitchFamily="34" charset="0"/>
              </a:rPr>
              <a:t>Cuando dos o más sustancias se unen sin reaccionar químicamente entre sí, forman una mezcla. Las mezclas pueden ser homogéneas (sus componentes no se distinguen a simple vista, como el agua con azúcar disuelta) o heterogéneas (sus componentes sí se distinguen a simple vista, como el agua con aceite o una ensalada). Es importante recordar que las mezclas se pueden separar por métodos físicos (filtración, decantación, evaporación, destilación, etc.).</a:t>
            </a:r>
          </a:p>
        </p:txBody>
      </p:sp>
    </p:spTree>
    <p:extLst>
      <p:ext uri="{BB962C8B-B14F-4D97-AF65-F5344CB8AC3E}">
        <p14:creationId xmlns:p14="http://schemas.microsoft.com/office/powerpoint/2010/main" val="4290641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C958A-8A04-B8C6-2B27-F78B2146B1A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16C0F4-1170-7C72-D4BA-F3B3644B248A}"/>
              </a:ext>
            </a:extLst>
          </p:cNvPr>
          <p:cNvSpPr>
            <a:spLocks noGrp="1"/>
          </p:cNvSpPr>
          <p:nvPr>
            <p:ph type="title"/>
          </p:nvPr>
        </p:nvSpPr>
        <p:spPr>
          <a:xfrm>
            <a:off x="665922" y="858216"/>
            <a:ext cx="10515600" cy="1391478"/>
          </a:xfrm>
        </p:spPr>
        <p:txBody>
          <a:bodyPr>
            <a:noAutofit/>
          </a:bodyPr>
          <a:lstStyle/>
          <a:p>
            <a:pPr>
              <a:lnSpc>
                <a:spcPct val="107000"/>
              </a:lnSpc>
              <a:spcAft>
                <a:spcPts val="800"/>
              </a:spcAft>
              <a:buNone/>
            </a:pPr>
            <a:r>
              <a:rPr lang="es-ES" sz="2200" dirty="0">
                <a:latin typeface="Arial" panose="020B0604020202020204" pitchFamily="34" charset="0"/>
                <a:cs typeface="Arial" panose="020B0604020202020204" pitchFamily="34" charset="0"/>
              </a:rPr>
              <a:t>Pregunta 1</a:t>
            </a:r>
            <a:br>
              <a:rPr lang="es-ES" sz="2200" dirty="0">
                <a:latin typeface="Arial" panose="020B0604020202020204" pitchFamily="34" charset="0"/>
                <a:cs typeface="Arial" panose="020B0604020202020204" pitchFamily="34" charset="0"/>
              </a:rPr>
            </a:br>
            <a:br>
              <a:rPr lang="es-ES" sz="2200" i="1" dirty="0">
                <a:latin typeface="Arial" panose="020B0604020202020204" pitchFamily="34" charset="0"/>
                <a:cs typeface="Arial" panose="020B0604020202020204" pitchFamily="34" charset="0"/>
              </a:rPr>
            </a:br>
            <a:r>
              <a:rPr lang="es-CO" sz="2200" kern="100" dirty="0">
                <a:effectLst/>
                <a:latin typeface="Arial" panose="020B0604020202020204" pitchFamily="34" charset="0"/>
                <a:ea typeface="Aptos" panose="020B0004020202020204" pitchFamily="34" charset="0"/>
                <a:cs typeface="Arial" panose="020B0604020202020204" pitchFamily="34" charset="0"/>
              </a:rPr>
              <a:t>"El hielo se derrite y se convierte en agua líquida." Esta afirmación describe principalmente </a:t>
            </a:r>
            <a:r>
              <a:rPr lang="es-CO" sz="2400" kern="100" dirty="0">
                <a:effectLst/>
                <a:latin typeface="Aptos" panose="020B0004020202020204" pitchFamily="34" charset="0"/>
                <a:ea typeface="Aptos" panose="020B0004020202020204" pitchFamily="34" charset="0"/>
                <a:cs typeface="Times New Roman" panose="02020603050405020304" pitchFamily="18" charset="0"/>
              </a:rPr>
              <a:t>una:</a:t>
            </a:r>
            <a:br>
              <a:rPr lang="es-CO" sz="2400" kern="100" dirty="0">
                <a:effectLst/>
                <a:latin typeface="Aptos" panose="020B0004020202020204" pitchFamily="34" charset="0"/>
                <a:ea typeface="Aptos" panose="020B0004020202020204" pitchFamily="34" charset="0"/>
                <a:cs typeface="Times New Roman" panose="02020603050405020304" pitchFamily="18" charset="0"/>
              </a:rPr>
            </a:br>
            <a:endParaRPr lang="es-CO" sz="2200" i="1" dirty="0"/>
          </a:p>
        </p:txBody>
      </p:sp>
      <p:sp>
        <p:nvSpPr>
          <p:cNvPr id="3" name="Marcador de contenido 2">
            <a:extLst>
              <a:ext uri="{FF2B5EF4-FFF2-40B4-BE49-F238E27FC236}">
                <a16:creationId xmlns:a16="http://schemas.microsoft.com/office/drawing/2014/main" id="{C8519180-72BF-1647-2E6B-A272505F761F}"/>
              </a:ext>
            </a:extLst>
          </p:cNvPr>
          <p:cNvSpPr>
            <a:spLocks noGrp="1"/>
          </p:cNvSpPr>
          <p:nvPr>
            <p:ph idx="1"/>
          </p:nvPr>
        </p:nvSpPr>
        <p:spPr>
          <a:xfrm>
            <a:off x="1643270" y="3230356"/>
            <a:ext cx="9538252" cy="2958410"/>
          </a:xfrm>
        </p:spPr>
        <p:txBody>
          <a:bodyPr>
            <a:normAutofit/>
          </a:bodyPr>
          <a:lstStyle/>
          <a:p>
            <a:r>
              <a:rPr lang="es-CO" sz="2200" dirty="0">
                <a:latin typeface="Arial" panose="020B0604020202020204" pitchFamily="34" charset="0"/>
                <a:cs typeface="Arial" panose="020B0604020202020204" pitchFamily="34" charset="0"/>
              </a:rPr>
              <a:t>A. Propiedad química del agua.</a:t>
            </a:r>
          </a:p>
          <a:p>
            <a:r>
              <a:rPr lang="es-CO" sz="2200" dirty="0">
                <a:latin typeface="Arial" panose="020B0604020202020204" pitchFamily="34" charset="0"/>
                <a:cs typeface="Arial" panose="020B0604020202020204" pitchFamily="34" charset="0"/>
              </a:rPr>
              <a:t>B. Transformación química de la materia.</a:t>
            </a:r>
          </a:p>
          <a:p>
            <a:r>
              <a:rPr lang="es-CO" sz="2200" dirty="0">
                <a:latin typeface="Arial" panose="020B0604020202020204" pitchFamily="34" charset="0"/>
                <a:cs typeface="Arial" panose="020B0604020202020204" pitchFamily="34" charset="0"/>
              </a:rPr>
              <a:t>C. Propiedad física del agua.</a:t>
            </a:r>
          </a:p>
          <a:p>
            <a:r>
              <a:rPr lang="es-CO" sz="2200" dirty="0">
                <a:latin typeface="Arial" panose="020B0604020202020204" pitchFamily="34" charset="0"/>
                <a:cs typeface="Arial" panose="020B0604020202020204" pitchFamily="34" charset="0"/>
              </a:rPr>
              <a:t>D. Formación de una nueva sustancia.</a:t>
            </a:r>
          </a:p>
        </p:txBody>
      </p:sp>
    </p:spTree>
    <p:extLst>
      <p:ext uri="{BB962C8B-B14F-4D97-AF65-F5344CB8AC3E}">
        <p14:creationId xmlns:p14="http://schemas.microsoft.com/office/powerpoint/2010/main" val="1749014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5AD47-9774-1101-3F7A-E14EAF02769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90FC8B-CF17-3059-E17A-ADBF76BB011E}"/>
              </a:ext>
            </a:extLst>
          </p:cNvPr>
          <p:cNvSpPr>
            <a:spLocks noGrp="1"/>
          </p:cNvSpPr>
          <p:nvPr>
            <p:ph type="title"/>
          </p:nvPr>
        </p:nvSpPr>
        <p:spPr>
          <a:xfrm>
            <a:off x="838200" y="434147"/>
            <a:ext cx="10515600" cy="1391478"/>
          </a:xfrm>
        </p:spPr>
        <p:txBody>
          <a:bodyPr>
            <a:noAutofit/>
          </a:bodyPr>
          <a:lstStyle/>
          <a:p>
            <a:r>
              <a:rPr lang="es-ES" sz="2200" dirty="0">
                <a:latin typeface="Arial" panose="020B0604020202020204" pitchFamily="34" charset="0"/>
                <a:cs typeface="Arial" panose="020B0604020202020204" pitchFamily="34" charset="0"/>
              </a:rPr>
              <a:t>Pregunta 2</a:t>
            </a:r>
            <a:br>
              <a:rPr lang="es-ES" sz="2200" dirty="0">
                <a:latin typeface="Arial" panose="020B0604020202020204" pitchFamily="34" charset="0"/>
                <a:cs typeface="Arial" panose="020B0604020202020204" pitchFamily="34" charset="0"/>
              </a:rPr>
            </a:br>
            <a:br>
              <a:rPr lang="es-ES" sz="2200" i="1" dirty="0">
                <a:latin typeface="Arial" panose="020B0604020202020204" pitchFamily="34" charset="0"/>
                <a:cs typeface="Arial" panose="020B0604020202020204" pitchFamily="34" charset="0"/>
              </a:rPr>
            </a:br>
            <a:r>
              <a:rPr lang="es-ES" sz="2200" i="1" dirty="0">
                <a:latin typeface="Arial" panose="020B0604020202020204" pitchFamily="34" charset="0"/>
                <a:cs typeface="Arial" panose="020B0604020202020204" pitchFamily="34" charset="0"/>
              </a:rPr>
              <a:t>Si al mezclar arena con agua, se observa claramente la separación de ambos componentes, ¿qué tipo de mezcla se ha formado?</a:t>
            </a:r>
            <a:endParaRPr lang="es-CO" sz="2200" i="1" dirty="0"/>
          </a:p>
        </p:txBody>
      </p:sp>
      <p:sp>
        <p:nvSpPr>
          <p:cNvPr id="3" name="Marcador de contenido 2">
            <a:extLst>
              <a:ext uri="{FF2B5EF4-FFF2-40B4-BE49-F238E27FC236}">
                <a16:creationId xmlns:a16="http://schemas.microsoft.com/office/drawing/2014/main" id="{A43247A0-F435-7EA5-0E5C-07510FFA2C1B}"/>
              </a:ext>
            </a:extLst>
          </p:cNvPr>
          <p:cNvSpPr>
            <a:spLocks noGrp="1"/>
          </p:cNvSpPr>
          <p:nvPr>
            <p:ph idx="1"/>
          </p:nvPr>
        </p:nvSpPr>
        <p:spPr>
          <a:xfrm>
            <a:off x="1815548" y="2276200"/>
            <a:ext cx="9538252" cy="2017504"/>
          </a:xfrm>
        </p:spPr>
        <p:txBody>
          <a:bodyPr>
            <a:normAutofit/>
          </a:bodyPr>
          <a:lstStyle/>
          <a:p>
            <a:r>
              <a:rPr lang="es-ES" sz="2200" dirty="0">
                <a:latin typeface="Arial" panose="020B0604020202020204" pitchFamily="34" charset="0"/>
                <a:cs typeface="Arial" panose="020B0604020202020204" pitchFamily="34" charset="0"/>
              </a:rPr>
              <a:t>A. Una mezcla homogénea, porque se ve una sola fase.</a:t>
            </a:r>
          </a:p>
          <a:p>
            <a:r>
              <a:rPr lang="es-ES" sz="2200" dirty="0">
                <a:latin typeface="Arial" panose="020B0604020202020204" pitchFamily="34" charset="0"/>
                <a:cs typeface="Arial" panose="020B0604020202020204" pitchFamily="34" charset="0"/>
              </a:rPr>
              <a:t>B. Una mezcla heterogénea, porque los componentes se distinguen.</a:t>
            </a:r>
          </a:p>
          <a:p>
            <a:r>
              <a:rPr lang="es-ES" sz="2200" dirty="0">
                <a:latin typeface="Arial" panose="020B0604020202020204" pitchFamily="34" charset="0"/>
                <a:cs typeface="Arial" panose="020B0604020202020204" pitchFamily="34" charset="0"/>
              </a:rPr>
              <a:t>C. Una sustancia pura, porque no hay reacción química.</a:t>
            </a:r>
          </a:p>
          <a:p>
            <a:r>
              <a:rPr lang="es-ES" sz="2200" dirty="0">
                <a:latin typeface="Arial" panose="020B0604020202020204" pitchFamily="34" charset="0"/>
                <a:cs typeface="Arial" panose="020B0604020202020204" pitchFamily="34" charset="0"/>
              </a:rPr>
              <a:t>D. Un compuesto, porque hay dos elementos diferentes.</a:t>
            </a:r>
          </a:p>
        </p:txBody>
      </p:sp>
    </p:spTree>
    <p:extLst>
      <p:ext uri="{BB962C8B-B14F-4D97-AF65-F5344CB8AC3E}">
        <p14:creationId xmlns:p14="http://schemas.microsoft.com/office/powerpoint/2010/main" val="4039648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5A1AB-3196-AA0E-2217-7A1E48CE49C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12A94E8-EE1D-DBAB-D0E3-DE23187BD333}"/>
              </a:ext>
            </a:extLst>
          </p:cNvPr>
          <p:cNvSpPr>
            <a:spLocks noGrp="1"/>
          </p:cNvSpPr>
          <p:nvPr>
            <p:ph type="title"/>
          </p:nvPr>
        </p:nvSpPr>
        <p:spPr>
          <a:xfrm>
            <a:off x="838200" y="801755"/>
            <a:ext cx="10515600" cy="1391478"/>
          </a:xfrm>
        </p:spPr>
        <p:txBody>
          <a:bodyPr>
            <a:noAutofit/>
          </a:bodyPr>
          <a:lstStyle/>
          <a:p>
            <a:r>
              <a:rPr lang="es-ES" sz="2200" dirty="0">
                <a:latin typeface="Arial" panose="020B0604020202020204" pitchFamily="34" charset="0"/>
                <a:cs typeface="Arial" panose="020B0604020202020204" pitchFamily="34" charset="0"/>
              </a:rPr>
              <a:t>Pregunta 3</a:t>
            </a:r>
            <a:br>
              <a:rPr lang="es-ES" sz="2200" dirty="0">
                <a:latin typeface="Arial" panose="020B0604020202020204" pitchFamily="34" charset="0"/>
                <a:cs typeface="Arial" panose="020B0604020202020204" pitchFamily="34" charset="0"/>
              </a:rPr>
            </a:br>
            <a:br>
              <a:rPr lang="es-ES" sz="2200" i="1" dirty="0">
                <a:latin typeface="Arial" panose="020B0604020202020204" pitchFamily="34" charset="0"/>
                <a:cs typeface="Arial" panose="020B0604020202020204" pitchFamily="34" charset="0"/>
              </a:rPr>
            </a:br>
            <a:r>
              <a:rPr lang="es-ES" sz="2200" i="1" dirty="0">
                <a:latin typeface="Arial" panose="020B0604020202020204" pitchFamily="34" charset="0"/>
                <a:cs typeface="Arial" panose="020B0604020202020204" pitchFamily="34" charset="0"/>
              </a:rPr>
              <a:t>Un estudiante tiene una muestra de una sustancia desconocida. Decide calentarla y observa que se descompone en dos sustancias diferentes. Esta observación indica que la sustancia original podría ser:</a:t>
            </a:r>
            <a:endParaRPr lang="es-CO" sz="2200" i="1" dirty="0"/>
          </a:p>
        </p:txBody>
      </p:sp>
      <p:sp>
        <p:nvSpPr>
          <p:cNvPr id="3" name="Marcador de contenido 2">
            <a:extLst>
              <a:ext uri="{FF2B5EF4-FFF2-40B4-BE49-F238E27FC236}">
                <a16:creationId xmlns:a16="http://schemas.microsoft.com/office/drawing/2014/main" id="{3C6B6BBE-05B4-BB26-DE39-AB4ABD46E8C1}"/>
              </a:ext>
            </a:extLst>
          </p:cNvPr>
          <p:cNvSpPr>
            <a:spLocks noGrp="1"/>
          </p:cNvSpPr>
          <p:nvPr>
            <p:ph idx="1"/>
          </p:nvPr>
        </p:nvSpPr>
        <p:spPr>
          <a:xfrm>
            <a:off x="1550505" y="3097835"/>
            <a:ext cx="9538252" cy="2958410"/>
          </a:xfrm>
        </p:spPr>
        <p:txBody>
          <a:bodyPr>
            <a:normAutofit/>
          </a:bodyPr>
          <a:lstStyle/>
          <a:p>
            <a:r>
              <a:rPr lang="es-ES" sz="2200" dirty="0">
                <a:latin typeface="Arial" panose="020B0604020202020204" pitchFamily="34" charset="0"/>
                <a:cs typeface="Arial" panose="020B0604020202020204" pitchFamily="34" charset="0"/>
              </a:rPr>
              <a:t>A. Un elemento, ya que los elementos se descomponen fácilmente.</a:t>
            </a:r>
          </a:p>
          <a:p>
            <a:r>
              <a:rPr lang="es-ES" sz="2200" dirty="0">
                <a:latin typeface="Arial" panose="020B0604020202020204" pitchFamily="34" charset="0"/>
                <a:cs typeface="Arial" panose="020B0604020202020204" pitchFamily="34" charset="0"/>
              </a:rPr>
              <a:t>B. Un compuesto, porque los compuestos pueden descomponerse en elementos.</a:t>
            </a:r>
          </a:p>
          <a:p>
            <a:r>
              <a:rPr lang="es-ES" sz="2200" dirty="0">
                <a:latin typeface="Arial" panose="020B0604020202020204" pitchFamily="34" charset="0"/>
                <a:cs typeface="Arial" panose="020B0604020202020204" pitchFamily="34" charset="0"/>
              </a:rPr>
              <a:t>C. Una mezcla homogénea, debido a la separación de sus componentes.</a:t>
            </a:r>
          </a:p>
          <a:p>
            <a:r>
              <a:rPr lang="es-ES" sz="2200" dirty="0">
                <a:latin typeface="Arial" panose="020B0604020202020204" pitchFamily="34" charset="0"/>
                <a:cs typeface="Arial" panose="020B0604020202020204" pitchFamily="34" charset="0"/>
              </a:rPr>
              <a:t>D. Una mezcla heterogénea, ya que sus partes son visibles.</a:t>
            </a:r>
          </a:p>
        </p:txBody>
      </p:sp>
    </p:spTree>
    <p:extLst>
      <p:ext uri="{BB962C8B-B14F-4D97-AF65-F5344CB8AC3E}">
        <p14:creationId xmlns:p14="http://schemas.microsoft.com/office/powerpoint/2010/main" val="1060297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94161-AA2D-F2EE-1F15-5902FF3BBBB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738B48D-CAF4-E507-8841-95A4F0C2E5CE}"/>
              </a:ext>
            </a:extLst>
          </p:cNvPr>
          <p:cNvSpPr>
            <a:spLocks noGrp="1"/>
          </p:cNvSpPr>
          <p:nvPr>
            <p:ph type="title"/>
          </p:nvPr>
        </p:nvSpPr>
        <p:spPr>
          <a:xfrm>
            <a:off x="824948" y="699190"/>
            <a:ext cx="10515600" cy="1391478"/>
          </a:xfrm>
        </p:spPr>
        <p:txBody>
          <a:bodyPr>
            <a:noAutofit/>
          </a:bodyPr>
          <a:lstStyle/>
          <a:p>
            <a:r>
              <a:rPr lang="es-ES" sz="2200" dirty="0">
                <a:latin typeface="Arial" panose="020B0604020202020204" pitchFamily="34" charset="0"/>
                <a:cs typeface="Arial" panose="020B0604020202020204" pitchFamily="34" charset="0"/>
              </a:rPr>
              <a:t>Pregunta 4</a:t>
            </a:r>
            <a:br>
              <a:rPr lang="es-ES" sz="2200" dirty="0">
                <a:latin typeface="Arial" panose="020B0604020202020204" pitchFamily="34" charset="0"/>
                <a:cs typeface="Arial" panose="020B0604020202020204" pitchFamily="34" charset="0"/>
              </a:rPr>
            </a:br>
            <a:br>
              <a:rPr lang="es-ES" sz="2200" i="1" dirty="0">
                <a:latin typeface="Arial" panose="020B0604020202020204" pitchFamily="34" charset="0"/>
                <a:cs typeface="Arial" panose="020B0604020202020204" pitchFamily="34" charset="0"/>
              </a:rPr>
            </a:br>
            <a:r>
              <a:rPr lang="es-ES" sz="2200" i="1" dirty="0">
                <a:latin typeface="Arial" panose="020B0604020202020204" pitchFamily="34" charset="0"/>
                <a:cs typeface="Arial" panose="020B0604020202020204" pitchFamily="34" charset="0"/>
              </a:rPr>
              <a:t>La etiqueta de una bebida gaseosa indica que sus ingredientes incluyen agua carbonatada, azúcar, colorantes y saborizantes. De acuerdo con la información de la lectura, ¿cómo clasificarías esta bebida?</a:t>
            </a:r>
            <a:endParaRPr lang="es-CO" sz="2200" i="1" dirty="0"/>
          </a:p>
        </p:txBody>
      </p:sp>
      <p:sp>
        <p:nvSpPr>
          <p:cNvPr id="3" name="Marcador de contenido 2">
            <a:extLst>
              <a:ext uri="{FF2B5EF4-FFF2-40B4-BE49-F238E27FC236}">
                <a16:creationId xmlns:a16="http://schemas.microsoft.com/office/drawing/2014/main" id="{84FB0B19-0BE4-EBC1-139E-A4AF39E3B358}"/>
              </a:ext>
            </a:extLst>
          </p:cNvPr>
          <p:cNvSpPr>
            <a:spLocks noGrp="1"/>
          </p:cNvSpPr>
          <p:nvPr>
            <p:ph idx="1"/>
          </p:nvPr>
        </p:nvSpPr>
        <p:spPr>
          <a:xfrm>
            <a:off x="1643270" y="2925557"/>
            <a:ext cx="9538252" cy="2958410"/>
          </a:xfrm>
        </p:spPr>
        <p:txBody>
          <a:bodyPr>
            <a:normAutofit/>
          </a:bodyPr>
          <a:lstStyle/>
          <a:p>
            <a:r>
              <a:rPr lang="es-ES" sz="2200" dirty="0">
                <a:latin typeface="Arial" panose="020B0604020202020204" pitchFamily="34" charset="0"/>
                <a:cs typeface="Arial" panose="020B0604020202020204" pitchFamily="34" charset="0"/>
              </a:rPr>
              <a:t>A. Sustancia pura, porque todos los ingredientes están bien definidos.</a:t>
            </a:r>
          </a:p>
          <a:p>
            <a:r>
              <a:rPr lang="es-ES" sz="2200" dirty="0">
                <a:latin typeface="Arial" panose="020B0604020202020204" pitchFamily="34" charset="0"/>
                <a:cs typeface="Arial" panose="020B0604020202020204" pitchFamily="34" charset="0"/>
              </a:rPr>
              <a:t>B. Elemento, porque no se pueden separar sus componentes.</a:t>
            </a:r>
          </a:p>
          <a:p>
            <a:r>
              <a:rPr lang="es-ES" sz="2200" dirty="0">
                <a:latin typeface="Arial" panose="020B0604020202020204" pitchFamily="34" charset="0"/>
                <a:cs typeface="Arial" panose="020B0604020202020204" pitchFamily="34" charset="0"/>
              </a:rPr>
              <a:t>C. Mezcla homogénea, ya que sus componentes no se distinguen a simple vista.</a:t>
            </a:r>
          </a:p>
          <a:p>
            <a:r>
              <a:rPr lang="es-ES" sz="2200" dirty="0">
                <a:latin typeface="Arial" panose="020B0604020202020204" pitchFamily="34" charset="0"/>
                <a:cs typeface="Arial" panose="020B0604020202020204" pitchFamily="34" charset="0"/>
              </a:rPr>
              <a:t>D. Mezcla heterogénea, debido a la variedad de sus componentes.</a:t>
            </a:r>
          </a:p>
        </p:txBody>
      </p:sp>
    </p:spTree>
    <p:extLst>
      <p:ext uri="{BB962C8B-B14F-4D97-AF65-F5344CB8AC3E}">
        <p14:creationId xmlns:p14="http://schemas.microsoft.com/office/powerpoint/2010/main" val="1702587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8EB20-C2DD-9AE8-FC93-0BB6807832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12BBDDB-8FD8-1203-DA35-6A2EF7C4928A}"/>
              </a:ext>
            </a:extLst>
          </p:cNvPr>
          <p:cNvSpPr>
            <a:spLocks noGrp="1"/>
          </p:cNvSpPr>
          <p:nvPr>
            <p:ph type="title"/>
          </p:nvPr>
        </p:nvSpPr>
        <p:spPr>
          <a:xfrm>
            <a:off x="838200" y="434147"/>
            <a:ext cx="10515600" cy="1391478"/>
          </a:xfrm>
        </p:spPr>
        <p:txBody>
          <a:bodyPr>
            <a:noAutofit/>
          </a:bodyPr>
          <a:lstStyle/>
          <a:p>
            <a:r>
              <a:rPr lang="es-ES" sz="2200" dirty="0">
                <a:latin typeface="Arial" panose="020B0604020202020204" pitchFamily="34" charset="0"/>
                <a:cs typeface="Arial" panose="020B0604020202020204" pitchFamily="34" charset="0"/>
              </a:rPr>
              <a:t>Pregunta 5</a:t>
            </a:r>
            <a:br>
              <a:rPr lang="es-ES" sz="2200" dirty="0">
                <a:latin typeface="Arial" panose="020B0604020202020204" pitchFamily="34" charset="0"/>
                <a:cs typeface="Arial" panose="020B0604020202020204" pitchFamily="34" charset="0"/>
              </a:rPr>
            </a:br>
            <a:br>
              <a:rPr lang="es-ES" sz="2200" i="1" dirty="0">
                <a:latin typeface="Arial" panose="020B0604020202020204" pitchFamily="34" charset="0"/>
                <a:cs typeface="Arial" panose="020B0604020202020204" pitchFamily="34" charset="0"/>
              </a:rPr>
            </a:br>
            <a:r>
              <a:rPr lang="es-ES" sz="2200" i="1" dirty="0">
                <a:latin typeface="Arial" panose="020B0604020202020204" pitchFamily="34" charset="0"/>
                <a:cs typeface="Arial" panose="020B0604020202020204" pitchFamily="34" charset="0"/>
              </a:rPr>
              <a:t>¿Cuál de las siguientes afirmaciones describe mejor la diferencia entre una propiedad física y una propiedad química?</a:t>
            </a:r>
            <a:endParaRPr lang="es-CO" sz="2200" i="1" dirty="0"/>
          </a:p>
        </p:txBody>
      </p:sp>
      <p:sp>
        <p:nvSpPr>
          <p:cNvPr id="3" name="Marcador de contenido 2">
            <a:extLst>
              <a:ext uri="{FF2B5EF4-FFF2-40B4-BE49-F238E27FC236}">
                <a16:creationId xmlns:a16="http://schemas.microsoft.com/office/drawing/2014/main" id="{5A73F716-17EE-3A01-0AFB-4902DC22E391}"/>
              </a:ext>
            </a:extLst>
          </p:cNvPr>
          <p:cNvSpPr>
            <a:spLocks noGrp="1"/>
          </p:cNvSpPr>
          <p:nvPr>
            <p:ph idx="1"/>
          </p:nvPr>
        </p:nvSpPr>
        <p:spPr>
          <a:xfrm>
            <a:off x="1815548" y="2355713"/>
            <a:ext cx="9538252" cy="2958410"/>
          </a:xfrm>
        </p:spPr>
        <p:txBody>
          <a:bodyPr>
            <a:normAutofit/>
          </a:bodyPr>
          <a:lstStyle/>
          <a:p>
            <a:r>
              <a:rPr lang="es-ES" sz="2200" dirty="0">
                <a:latin typeface="Arial" panose="020B0604020202020204" pitchFamily="34" charset="0"/>
                <a:cs typeface="Arial" panose="020B0604020202020204" pitchFamily="34" charset="0"/>
              </a:rPr>
              <a:t>A. Las propiedades físicas se observan solo en sólidos y las químicas en gases.</a:t>
            </a:r>
          </a:p>
          <a:p>
            <a:r>
              <a:rPr lang="es-ES" sz="2200" dirty="0">
                <a:latin typeface="Arial" panose="020B0604020202020204" pitchFamily="34" charset="0"/>
                <a:cs typeface="Arial" panose="020B0604020202020204" pitchFamily="34" charset="0"/>
              </a:rPr>
              <a:t>B. Las propiedades físicas implican un cambio en la composición, mientras que las químicas no.</a:t>
            </a:r>
          </a:p>
          <a:p>
            <a:r>
              <a:rPr lang="es-ES" sz="2200" dirty="0">
                <a:latin typeface="Arial" panose="020B0604020202020204" pitchFamily="34" charset="0"/>
                <a:cs typeface="Arial" panose="020B0604020202020204" pitchFamily="34" charset="0"/>
              </a:rPr>
              <a:t>C. Las propiedades físicas no alteran la identidad de la sustancia, a diferencia de las químicas.</a:t>
            </a:r>
          </a:p>
          <a:p>
            <a:r>
              <a:rPr lang="es-ES" sz="2200" dirty="0">
                <a:latin typeface="Arial" panose="020B0604020202020204" pitchFamily="34" charset="0"/>
                <a:cs typeface="Arial" panose="020B0604020202020204" pitchFamily="34" charset="0"/>
              </a:rPr>
              <a:t>D. Las propiedades químicas son siempre visibles, mientras que las físicas no.</a:t>
            </a:r>
          </a:p>
        </p:txBody>
      </p:sp>
    </p:spTree>
    <p:extLst>
      <p:ext uri="{BB962C8B-B14F-4D97-AF65-F5344CB8AC3E}">
        <p14:creationId xmlns:p14="http://schemas.microsoft.com/office/powerpoint/2010/main" val="3480238544"/>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docProps/app.xml><?xml version="1.0" encoding="utf-8"?>
<Properties xmlns="http://schemas.openxmlformats.org/officeDocument/2006/extended-properties" xmlns:vt="http://schemas.openxmlformats.org/officeDocument/2006/docPropsVTypes">
  <Template>Office 2013 - 2022 Theme</Template>
  <TotalTime>115</TotalTime>
  <Words>1772</Words>
  <Application>Microsoft Office PowerPoint</Application>
  <PresentationFormat>Panorámica</PresentationFormat>
  <Paragraphs>68</Paragraphs>
  <Slides>14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Aptos</vt:lpstr>
      <vt:lpstr>Arial</vt:lpstr>
      <vt:lpstr>Calibri</vt:lpstr>
      <vt:lpstr>Calibri Light</vt:lpstr>
      <vt:lpstr>Office 2013 - 2022 Theme</vt:lpstr>
      <vt:lpstr>Gimnasio del Campo Juan de la Cruz Varela     </vt:lpstr>
      <vt:lpstr>Presentación de PowerPoint</vt:lpstr>
      <vt:lpstr>Pregunta 1  Según la lectura, ¿cuál de las siguientes opciones describe correctamente la función de los descomponedores en un ecosistema?</vt:lpstr>
      <vt:lpstr>Pregunta 2  La lectura enfatiza que la biodiversidad es crucial para la salud de los ecosistemas. ¿Cuál de las siguientes situaciones ejemplifica mejor el impacto negativo de una baja biodiversidad?</vt:lpstr>
      <vt:lpstr>Pregunta 3  A partir de la información proporcionada en el texto, ¿qué se puede inferir sobre la relación entre los componentes bióticos y abióticos en un ecosistema?</vt:lpstr>
      <vt:lpstr>Pregunta 4  Si una especie clave de un ecosistema (por ejemplo, un polinizador vital) se extinguiera debido a la contaminación, ¿cuál sería la consecuencia más probable a largo plazo, según el texto?</vt:lpstr>
      <vt:lpstr>Pregunta 5  Si en un ecosistema donde hay extinción de los consumidores de tercer orden (carnívoros) de la cadena alimenticia podría pasar:</vt:lpstr>
      <vt:lpstr>Gimnasio del Campo Juan de la Cruz Varela     </vt:lpstr>
      <vt:lpstr>Presentación de PowerPoint</vt:lpstr>
      <vt:lpstr>Pregunta 1  "El hielo se derrite y se convierte en agua líquida." Esta afirmación describe principalmente una: </vt:lpstr>
      <vt:lpstr>Pregunta 2  Si al mezclar arena con agua, se observa claramente la separación de ambos componentes, ¿qué tipo de mezcla se ha formado?</vt:lpstr>
      <vt:lpstr>Pregunta 3  Un estudiante tiene una muestra de una sustancia desconocida. Decide calentarla y observa que se descompone en dos sustancias diferentes. Esta observación indica que la sustancia original podría ser:</vt:lpstr>
      <vt:lpstr>Pregunta 4  La etiqueta de una bebida gaseosa indica que sus ingredientes incluyen agua carbonatada, azúcar, colorantes y saborizantes. De acuerdo con la información de la lectura, ¿cómo clasificarías esta bebida?</vt:lpstr>
      <vt:lpstr>Pregunta 5  ¿Cuál de las siguientes afirmaciones describe mejor la diferencia entre una propiedad física y una propiedad química?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Gimnasio del Campo Juan de la Cruz Varela</dc:title>
  <dc:creator>Rafael Cortes</dc:creator>
  <cp:lastModifiedBy>TULIA MARCELA VARGAS AVENDANO</cp:lastModifiedBy>
  <cp:revision>19</cp:revision>
  <dcterms:created xsi:type="dcterms:W3CDTF">2025-07-07T23:16:55Z</dcterms:created>
  <dcterms:modified xsi:type="dcterms:W3CDTF">2025-10-20T22:11:16Z</dcterms:modified>
</cp:coreProperties>
</file>
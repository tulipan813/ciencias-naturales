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9" r:id="rId4"/>
    <p:sldId id="260" r:id="rId5"/>
    <p:sldId id="261" r:id="rId6"/>
    <p:sldId id="262" r:id="rId7"/>
    <p:sldId id="263" r:id="rId8"/>
    <p:sldId id="264" r:id="rId9"/>
    <p:sldId id="265" r:id="rId10"/>
    <p:sldId id="266" r:id="rId11"/>
    <p:sldId id="267"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14" autoAdjust="0"/>
    <p:restoredTop sz="94660"/>
  </p:normalViewPr>
  <p:slideViewPr>
    <p:cSldViewPr snapToGrid="0">
      <p:cViewPr>
        <p:scale>
          <a:sx n="72" d="100"/>
          <a:sy n="72" d="100"/>
        </p:scale>
        <p:origin x="54"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fael Cortes" userId="68e189a8774fd23d" providerId="LiveId" clId="{3DE589D8-F2C8-4B9E-BFB8-AAAF49173B43}"/>
    <pc:docChg chg="undo custSel modSld">
      <pc:chgData name="Rafael Cortes" userId="68e189a8774fd23d" providerId="LiveId" clId="{3DE589D8-F2C8-4B9E-BFB8-AAAF49173B43}" dt="2025-07-07T23:52:23.104" v="60" actId="20577"/>
      <pc:docMkLst>
        <pc:docMk/>
      </pc:docMkLst>
      <pc:sldChg chg="modSp mod">
        <pc:chgData name="Rafael Cortes" userId="68e189a8774fd23d" providerId="LiveId" clId="{3DE589D8-F2C8-4B9E-BFB8-AAAF49173B43}" dt="2025-07-07T23:52:23.104" v="60" actId="20577"/>
        <pc:sldMkLst>
          <pc:docMk/>
          <pc:sldMk cId="958053950" sldId="256"/>
        </pc:sldMkLst>
        <pc:spChg chg="mod">
          <ac:chgData name="Rafael Cortes" userId="68e189a8774fd23d" providerId="LiveId" clId="{3DE589D8-F2C8-4B9E-BFB8-AAAF49173B43}" dt="2025-07-07T23:52:23.104" v="60" actId="20577"/>
          <ac:spMkLst>
            <pc:docMk/>
            <pc:sldMk cId="958053950" sldId="256"/>
            <ac:spMk id="2" creationId="{DDE95A6F-B6BD-4D3B-9CA4-851DD0E25E1A}"/>
          </ac:spMkLst>
        </pc:spChg>
        <pc:spChg chg="mod">
          <ac:chgData name="Rafael Cortes" userId="68e189a8774fd23d" providerId="LiveId" clId="{3DE589D8-F2C8-4B9E-BFB8-AAAF49173B43}" dt="2025-07-07T23:49:54.073" v="17" actId="113"/>
          <ac:spMkLst>
            <pc:docMk/>
            <pc:sldMk cId="958053950" sldId="256"/>
            <ac:spMk id="3" creationId="{9697BD3D-BF1E-4041-99CD-A723090A48A9}"/>
          </ac:spMkLst>
        </pc:spChg>
        <pc:spChg chg="mod">
          <ac:chgData name="Rafael Cortes" userId="68e189a8774fd23d" providerId="LiveId" clId="{3DE589D8-F2C8-4B9E-BFB8-AAAF49173B43}" dt="2025-07-07T23:50:03.667" v="18" actId="1076"/>
          <ac:spMkLst>
            <pc:docMk/>
            <pc:sldMk cId="958053950" sldId="256"/>
            <ac:spMk id="4" creationId="{986403DF-318C-4946-A3A0-D10342F1A0B6}"/>
          </ac:spMkLst>
        </pc:spChg>
        <pc:picChg chg="mod">
          <ac:chgData name="Rafael Cortes" userId="68e189a8774fd23d" providerId="LiveId" clId="{3DE589D8-F2C8-4B9E-BFB8-AAAF49173B43}" dt="2025-07-07T23:50:26.365" v="19" actId="1076"/>
          <ac:picMkLst>
            <pc:docMk/>
            <pc:sldMk cId="958053950" sldId="256"/>
            <ac:picMk id="5" creationId="{1777C332-B8A1-4792-9ACD-F5C26990CEBB}"/>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s-MX"/>
              <a:t>Haz clic para modificar el estilo de título del patrón</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MX"/>
              <a:t>Haz clic para editar el estilo de subtítulo del patrón</a:t>
            </a:r>
            <a:endParaRPr lang="en-US" dirty="0"/>
          </a:p>
        </p:txBody>
      </p:sp>
      <p:sp>
        <p:nvSpPr>
          <p:cNvPr id="4" name="Date Placeholder 3"/>
          <p:cNvSpPr>
            <a:spLocks noGrp="1"/>
          </p:cNvSpPr>
          <p:nvPr>
            <p:ph type="dt" sz="half" idx="10"/>
          </p:nvPr>
        </p:nvSpPr>
        <p:spPr/>
        <p:txBody>
          <a:bodyPr/>
          <a:lstStyle/>
          <a:p>
            <a:fld id="{0352B188-EF31-4F65-85E9-76461E193C9C}" type="datetimeFigureOut">
              <a:rPr lang="es-CO" smtClean="0"/>
              <a:t>17/07/2025</a:t>
            </a:fld>
            <a:endParaRPr lang="es-CO" dirty="0"/>
          </a:p>
        </p:txBody>
      </p:sp>
      <p:sp>
        <p:nvSpPr>
          <p:cNvPr id="5" name="Footer Placeholder 4"/>
          <p:cNvSpPr>
            <a:spLocks noGrp="1"/>
          </p:cNvSpPr>
          <p:nvPr>
            <p:ph type="ftr" sz="quarter" idx="11"/>
          </p:nvPr>
        </p:nvSpPr>
        <p:spPr/>
        <p:txBody>
          <a:bodyPr/>
          <a:lstStyle/>
          <a:p>
            <a:endParaRPr lang="es-CO" dirty="0"/>
          </a:p>
        </p:txBody>
      </p:sp>
      <p:sp>
        <p:nvSpPr>
          <p:cNvPr id="6" name="Slide Number Placeholder 5"/>
          <p:cNvSpPr>
            <a:spLocks noGrp="1"/>
          </p:cNvSpPr>
          <p:nvPr>
            <p:ph type="sldNum" sz="quarter" idx="12"/>
          </p:nvPr>
        </p:nvSpPr>
        <p:spPr/>
        <p:txBody>
          <a:bodyPr/>
          <a:lstStyle/>
          <a:p>
            <a:fld id="{70219BE4-C8F3-4CE3-A9F3-4CE3624EB41B}" type="slidenum">
              <a:rPr lang="es-CO" smtClean="0"/>
              <a:t>‹Nº›</a:t>
            </a:fld>
            <a:endParaRPr lang="es-CO" dirty="0"/>
          </a:p>
        </p:txBody>
      </p:sp>
    </p:spTree>
    <p:extLst>
      <p:ext uri="{BB962C8B-B14F-4D97-AF65-F5344CB8AC3E}">
        <p14:creationId xmlns:p14="http://schemas.microsoft.com/office/powerpoint/2010/main" val="27511490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a:t>Haz clic para modificar el estilo de título del patrón</a:t>
            </a:r>
            <a:endParaRPr lang="en-US" dirty="0"/>
          </a:p>
        </p:txBody>
      </p:sp>
      <p:sp>
        <p:nvSpPr>
          <p:cNvPr id="3" name="Content Placeholder 2"/>
          <p:cNvSpPr>
            <a:spLocks noGrp="1"/>
          </p:cNvSpPr>
          <p:nvPr>
            <p:ph idx="1"/>
          </p:nvPr>
        </p:nvSpPr>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10"/>
          </p:nvPr>
        </p:nvSpPr>
        <p:spPr/>
        <p:txBody>
          <a:bodyPr/>
          <a:lstStyle/>
          <a:p>
            <a:fld id="{0352B188-EF31-4F65-85E9-76461E193C9C}" type="datetimeFigureOut">
              <a:rPr lang="es-CO" smtClean="0"/>
              <a:t>17/07/2025</a:t>
            </a:fld>
            <a:endParaRPr lang="es-CO" dirty="0"/>
          </a:p>
        </p:txBody>
      </p:sp>
      <p:sp>
        <p:nvSpPr>
          <p:cNvPr id="5" name="Footer Placeholder 4"/>
          <p:cNvSpPr>
            <a:spLocks noGrp="1"/>
          </p:cNvSpPr>
          <p:nvPr>
            <p:ph type="ftr" sz="quarter" idx="11"/>
          </p:nvPr>
        </p:nvSpPr>
        <p:spPr/>
        <p:txBody>
          <a:bodyPr/>
          <a:lstStyle/>
          <a:p>
            <a:endParaRPr lang="es-CO" dirty="0"/>
          </a:p>
        </p:txBody>
      </p:sp>
      <p:sp>
        <p:nvSpPr>
          <p:cNvPr id="6" name="Slide Number Placeholder 5"/>
          <p:cNvSpPr>
            <a:spLocks noGrp="1"/>
          </p:cNvSpPr>
          <p:nvPr>
            <p:ph type="sldNum" sz="quarter" idx="12"/>
          </p:nvPr>
        </p:nvSpPr>
        <p:spPr/>
        <p:txBody>
          <a:bodyPr/>
          <a:lstStyle/>
          <a:p>
            <a:fld id="{70219BE4-C8F3-4CE3-A9F3-4CE3624EB41B}" type="slidenum">
              <a:rPr lang="es-CO" smtClean="0"/>
              <a:t>‹Nº›</a:t>
            </a:fld>
            <a:endParaRPr lang="es-CO" dirty="0"/>
          </a:p>
        </p:txBody>
      </p:sp>
    </p:spTree>
    <p:extLst>
      <p:ext uri="{BB962C8B-B14F-4D97-AF65-F5344CB8AC3E}">
        <p14:creationId xmlns:p14="http://schemas.microsoft.com/office/powerpoint/2010/main" val="15102283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s-MX"/>
              <a:t>Haz clic para modificar el estilo de título del patrón</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MX"/>
              <a:t>Haga clic para modificar los estilos de texto del patrón</a:t>
            </a:r>
          </a:p>
        </p:txBody>
      </p:sp>
      <p:sp>
        <p:nvSpPr>
          <p:cNvPr id="4" name="Date Placeholder 3"/>
          <p:cNvSpPr>
            <a:spLocks noGrp="1"/>
          </p:cNvSpPr>
          <p:nvPr>
            <p:ph type="dt" sz="half" idx="10"/>
          </p:nvPr>
        </p:nvSpPr>
        <p:spPr/>
        <p:txBody>
          <a:bodyPr/>
          <a:lstStyle/>
          <a:p>
            <a:fld id="{0352B188-EF31-4F65-85E9-76461E193C9C}" type="datetimeFigureOut">
              <a:rPr lang="es-CO" smtClean="0"/>
              <a:t>17/07/2025</a:t>
            </a:fld>
            <a:endParaRPr lang="es-CO" dirty="0"/>
          </a:p>
        </p:txBody>
      </p:sp>
      <p:sp>
        <p:nvSpPr>
          <p:cNvPr id="5" name="Footer Placeholder 4"/>
          <p:cNvSpPr>
            <a:spLocks noGrp="1"/>
          </p:cNvSpPr>
          <p:nvPr>
            <p:ph type="ftr" sz="quarter" idx="11"/>
          </p:nvPr>
        </p:nvSpPr>
        <p:spPr/>
        <p:txBody>
          <a:bodyPr/>
          <a:lstStyle/>
          <a:p>
            <a:endParaRPr lang="es-CO" dirty="0"/>
          </a:p>
        </p:txBody>
      </p:sp>
      <p:sp>
        <p:nvSpPr>
          <p:cNvPr id="6" name="Slide Number Placeholder 5"/>
          <p:cNvSpPr>
            <a:spLocks noGrp="1"/>
          </p:cNvSpPr>
          <p:nvPr>
            <p:ph type="sldNum" sz="quarter" idx="12"/>
          </p:nvPr>
        </p:nvSpPr>
        <p:spPr/>
        <p:txBody>
          <a:bodyPr/>
          <a:lstStyle/>
          <a:p>
            <a:fld id="{70219BE4-C8F3-4CE3-A9F3-4CE3624EB41B}" type="slidenum">
              <a:rPr lang="es-CO" smtClean="0"/>
              <a:t>‹Nº›</a:t>
            </a:fld>
            <a:endParaRPr lang="es-CO" dirty="0"/>
          </a:p>
        </p:txBody>
      </p:sp>
    </p:spTree>
    <p:extLst>
      <p:ext uri="{BB962C8B-B14F-4D97-AF65-F5344CB8AC3E}">
        <p14:creationId xmlns:p14="http://schemas.microsoft.com/office/powerpoint/2010/main" val="25432519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a:t>Haz clic para modificar el estilo de título del patrón</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5" name="Date Placeholder 4"/>
          <p:cNvSpPr>
            <a:spLocks noGrp="1"/>
          </p:cNvSpPr>
          <p:nvPr>
            <p:ph type="dt" sz="half" idx="10"/>
          </p:nvPr>
        </p:nvSpPr>
        <p:spPr/>
        <p:txBody>
          <a:bodyPr/>
          <a:lstStyle/>
          <a:p>
            <a:fld id="{0352B188-EF31-4F65-85E9-76461E193C9C}" type="datetimeFigureOut">
              <a:rPr lang="es-CO" smtClean="0"/>
              <a:t>17/07/2025</a:t>
            </a:fld>
            <a:endParaRPr lang="es-CO" dirty="0"/>
          </a:p>
        </p:txBody>
      </p:sp>
      <p:sp>
        <p:nvSpPr>
          <p:cNvPr id="6" name="Footer Placeholder 5"/>
          <p:cNvSpPr>
            <a:spLocks noGrp="1"/>
          </p:cNvSpPr>
          <p:nvPr>
            <p:ph type="ftr" sz="quarter" idx="11"/>
          </p:nvPr>
        </p:nvSpPr>
        <p:spPr/>
        <p:txBody>
          <a:bodyPr/>
          <a:lstStyle/>
          <a:p>
            <a:endParaRPr lang="es-CO" dirty="0"/>
          </a:p>
        </p:txBody>
      </p:sp>
      <p:sp>
        <p:nvSpPr>
          <p:cNvPr id="7" name="Slide Number Placeholder 6"/>
          <p:cNvSpPr>
            <a:spLocks noGrp="1"/>
          </p:cNvSpPr>
          <p:nvPr>
            <p:ph type="sldNum" sz="quarter" idx="12"/>
          </p:nvPr>
        </p:nvSpPr>
        <p:spPr/>
        <p:txBody>
          <a:bodyPr/>
          <a:lstStyle/>
          <a:p>
            <a:fld id="{70219BE4-C8F3-4CE3-A9F3-4CE3624EB41B}" type="slidenum">
              <a:rPr lang="es-CO" smtClean="0"/>
              <a:t>‹Nº›</a:t>
            </a:fld>
            <a:endParaRPr lang="es-CO" dirty="0"/>
          </a:p>
        </p:txBody>
      </p:sp>
    </p:spTree>
    <p:extLst>
      <p:ext uri="{BB962C8B-B14F-4D97-AF65-F5344CB8AC3E}">
        <p14:creationId xmlns:p14="http://schemas.microsoft.com/office/powerpoint/2010/main" val="36808642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s-MX"/>
              <a:t>Haz clic para modificar el estilo de título del patrón</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4" name="Content Placeholder 3"/>
          <p:cNvSpPr>
            <a:spLocks noGrp="1"/>
          </p:cNvSpPr>
          <p:nvPr>
            <p:ph sz="half" idx="2"/>
          </p:nvPr>
        </p:nvSpPr>
        <p:spPr>
          <a:xfrm>
            <a:off x="839788" y="2505075"/>
            <a:ext cx="5157787" cy="368458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6" name="Content Placeholder 5"/>
          <p:cNvSpPr>
            <a:spLocks noGrp="1"/>
          </p:cNvSpPr>
          <p:nvPr>
            <p:ph sz="quarter" idx="4"/>
          </p:nvPr>
        </p:nvSpPr>
        <p:spPr>
          <a:xfrm>
            <a:off x="6172200" y="2505075"/>
            <a:ext cx="5183188" cy="368458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7" name="Date Placeholder 6"/>
          <p:cNvSpPr>
            <a:spLocks noGrp="1"/>
          </p:cNvSpPr>
          <p:nvPr>
            <p:ph type="dt" sz="half" idx="10"/>
          </p:nvPr>
        </p:nvSpPr>
        <p:spPr/>
        <p:txBody>
          <a:bodyPr/>
          <a:lstStyle/>
          <a:p>
            <a:fld id="{0352B188-EF31-4F65-85E9-76461E193C9C}" type="datetimeFigureOut">
              <a:rPr lang="es-CO" smtClean="0"/>
              <a:t>17/07/2025</a:t>
            </a:fld>
            <a:endParaRPr lang="es-CO" dirty="0"/>
          </a:p>
        </p:txBody>
      </p:sp>
      <p:sp>
        <p:nvSpPr>
          <p:cNvPr id="8" name="Footer Placeholder 7"/>
          <p:cNvSpPr>
            <a:spLocks noGrp="1"/>
          </p:cNvSpPr>
          <p:nvPr>
            <p:ph type="ftr" sz="quarter" idx="11"/>
          </p:nvPr>
        </p:nvSpPr>
        <p:spPr/>
        <p:txBody>
          <a:bodyPr/>
          <a:lstStyle/>
          <a:p>
            <a:endParaRPr lang="es-CO" dirty="0"/>
          </a:p>
        </p:txBody>
      </p:sp>
      <p:sp>
        <p:nvSpPr>
          <p:cNvPr id="9" name="Slide Number Placeholder 8"/>
          <p:cNvSpPr>
            <a:spLocks noGrp="1"/>
          </p:cNvSpPr>
          <p:nvPr>
            <p:ph type="sldNum" sz="quarter" idx="12"/>
          </p:nvPr>
        </p:nvSpPr>
        <p:spPr/>
        <p:txBody>
          <a:bodyPr/>
          <a:lstStyle/>
          <a:p>
            <a:fld id="{70219BE4-C8F3-4CE3-A9F3-4CE3624EB41B}" type="slidenum">
              <a:rPr lang="es-CO" smtClean="0"/>
              <a:t>‹Nº›</a:t>
            </a:fld>
            <a:endParaRPr lang="es-CO" dirty="0"/>
          </a:p>
        </p:txBody>
      </p:sp>
    </p:spTree>
    <p:extLst>
      <p:ext uri="{BB962C8B-B14F-4D97-AF65-F5344CB8AC3E}">
        <p14:creationId xmlns:p14="http://schemas.microsoft.com/office/powerpoint/2010/main" val="5433822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a:t>Haz clic para modificar el estilo de título del patrón</a:t>
            </a:r>
            <a:endParaRPr lang="en-US" dirty="0"/>
          </a:p>
        </p:txBody>
      </p:sp>
      <p:sp>
        <p:nvSpPr>
          <p:cNvPr id="3" name="Date Placeholder 2"/>
          <p:cNvSpPr>
            <a:spLocks noGrp="1"/>
          </p:cNvSpPr>
          <p:nvPr>
            <p:ph type="dt" sz="half" idx="10"/>
          </p:nvPr>
        </p:nvSpPr>
        <p:spPr/>
        <p:txBody>
          <a:bodyPr/>
          <a:lstStyle/>
          <a:p>
            <a:fld id="{0352B188-EF31-4F65-85E9-76461E193C9C}" type="datetimeFigureOut">
              <a:rPr lang="es-CO" smtClean="0"/>
              <a:t>17/07/2025</a:t>
            </a:fld>
            <a:endParaRPr lang="es-CO" dirty="0"/>
          </a:p>
        </p:txBody>
      </p:sp>
      <p:sp>
        <p:nvSpPr>
          <p:cNvPr id="4" name="Footer Placeholder 3"/>
          <p:cNvSpPr>
            <a:spLocks noGrp="1"/>
          </p:cNvSpPr>
          <p:nvPr>
            <p:ph type="ftr" sz="quarter" idx="11"/>
          </p:nvPr>
        </p:nvSpPr>
        <p:spPr/>
        <p:txBody>
          <a:bodyPr/>
          <a:lstStyle/>
          <a:p>
            <a:endParaRPr lang="es-CO" dirty="0"/>
          </a:p>
        </p:txBody>
      </p:sp>
      <p:sp>
        <p:nvSpPr>
          <p:cNvPr id="5" name="Slide Number Placeholder 4"/>
          <p:cNvSpPr>
            <a:spLocks noGrp="1"/>
          </p:cNvSpPr>
          <p:nvPr>
            <p:ph type="sldNum" sz="quarter" idx="12"/>
          </p:nvPr>
        </p:nvSpPr>
        <p:spPr/>
        <p:txBody>
          <a:bodyPr/>
          <a:lstStyle/>
          <a:p>
            <a:fld id="{70219BE4-C8F3-4CE3-A9F3-4CE3624EB41B}" type="slidenum">
              <a:rPr lang="es-CO" smtClean="0"/>
              <a:t>‹Nº›</a:t>
            </a:fld>
            <a:endParaRPr lang="es-CO" dirty="0"/>
          </a:p>
        </p:txBody>
      </p:sp>
    </p:spTree>
    <p:extLst>
      <p:ext uri="{BB962C8B-B14F-4D97-AF65-F5344CB8AC3E}">
        <p14:creationId xmlns:p14="http://schemas.microsoft.com/office/powerpoint/2010/main" val="7004862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352B188-EF31-4F65-85E9-76461E193C9C}" type="datetimeFigureOut">
              <a:rPr lang="es-CO" smtClean="0"/>
              <a:t>17/07/2025</a:t>
            </a:fld>
            <a:endParaRPr lang="es-CO" dirty="0"/>
          </a:p>
        </p:txBody>
      </p:sp>
      <p:sp>
        <p:nvSpPr>
          <p:cNvPr id="3" name="Footer Placeholder 2"/>
          <p:cNvSpPr>
            <a:spLocks noGrp="1"/>
          </p:cNvSpPr>
          <p:nvPr>
            <p:ph type="ftr" sz="quarter" idx="11"/>
          </p:nvPr>
        </p:nvSpPr>
        <p:spPr/>
        <p:txBody>
          <a:bodyPr/>
          <a:lstStyle/>
          <a:p>
            <a:endParaRPr lang="es-CO" dirty="0"/>
          </a:p>
        </p:txBody>
      </p:sp>
      <p:sp>
        <p:nvSpPr>
          <p:cNvPr id="4" name="Slide Number Placeholder 3"/>
          <p:cNvSpPr>
            <a:spLocks noGrp="1"/>
          </p:cNvSpPr>
          <p:nvPr>
            <p:ph type="sldNum" sz="quarter" idx="12"/>
          </p:nvPr>
        </p:nvSpPr>
        <p:spPr/>
        <p:txBody>
          <a:bodyPr/>
          <a:lstStyle/>
          <a:p>
            <a:fld id="{70219BE4-C8F3-4CE3-A9F3-4CE3624EB41B}" type="slidenum">
              <a:rPr lang="es-CO" smtClean="0"/>
              <a:t>‹Nº›</a:t>
            </a:fld>
            <a:endParaRPr lang="es-CO" dirty="0"/>
          </a:p>
        </p:txBody>
      </p:sp>
    </p:spTree>
    <p:extLst>
      <p:ext uri="{BB962C8B-B14F-4D97-AF65-F5344CB8AC3E}">
        <p14:creationId xmlns:p14="http://schemas.microsoft.com/office/powerpoint/2010/main" val="34230704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s-MX"/>
              <a:t>Haz clic para modificar el estilo de título del patrón</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Date Placeholder 4"/>
          <p:cNvSpPr>
            <a:spLocks noGrp="1"/>
          </p:cNvSpPr>
          <p:nvPr>
            <p:ph type="dt" sz="half" idx="10"/>
          </p:nvPr>
        </p:nvSpPr>
        <p:spPr/>
        <p:txBody>
          <a:bodyPr/>
          <a:lstStyle/>
          <a:p>
            <a:fld id="{0352B188-EF31-4F65-85E9-76461E193C9C}" type="datetimeFigureOut">
              <a:rPr lang="es-CO" smtClean="0"/>
              <a:t>17/07/2025</a:t>
            </a:fld>
            <a:endParaRPr lang="es-CO" dirty="0"/>
          </a:p>
        </p:txBody>
      </p:sp>
      <p:sp>
        <p:nvSpPr>
          <p:cNvPr id="6" name="Footer Placeholder 5"/>
          <p:cNvSpPr>
            <a:spLocks noGrp="1"/>
          </p:cNvSpPr>
          <p:nvPr>
            <p:ph type="ftr" sz="quarter" idx="11"/>
          </p:nvPr>
        </p:nvSpPr>
        <p:spPr/>
        <p:txBody>
          <a:bodyPr/>
          <a:lstStyle/>
          <a:p>
            <a:endParaRPr lang="es-CO" dirty="0"/>
          </a:p>
        </p:txBody>
      </p:sp>
      <p:sp>
        <p:nvSpPr>
          <p:cNvPr id="7" name="Slide Number Placeholder 6"/>
          <p:cNvSpPr>
            <a:spLocks noGrp="1"/>
          </p:cNvSpPr>
          <p:nvPr>
            <p:ph type="sldNum" sz="quarter" idx="12"/>
          </p:nvPr>
        </p:nvSpPr>
        <p:spPr/>
        <p:txBody>
          <a:bodyPr/>
          <a:lstStyle/>
          <a:p>
            <a:fld id="{70219BE4-C8F3-4CE3-A9F3-4CE3624EB41B}" type="slidenum">
              <a:rPr lang="es-CO" smtClean="0"/>
              <a:t>‹Nº›</a:t>
            </a:fld>
            <a:endParaRPr lang="es-CO" dirty="0"/>
          </a:p>
        </p:txBody>
      </p:sp>
    </p:spTree>
    <p:extLst>
      <p:ext uri="{BB962C8B-B14F-4D97-AF65-F5344CB8AC3E}">
        <p14:creationId xmlns:p14="http://schemas.microsoft.com/office/powerpoint/2010/main" val="2742162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s-MX"/>
              <a:t>Haz clic para modificar el estilo de título del patrón</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MX" dirty="0"/>
              <a:t>Haz clic en el icono para agregar una imagen</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Date Placeholder 4"/>
          <p:cNvSpPr>
            <a:spLocks noGrp="1"/>
          </p:cNvSpPr>
          <p:nvPr>
            <p:ph type="dt" sz="half" idx="10"/>
          </p:nvPr>
        </p:nvSpPr>
        <p:spPr/>
        <p:txBody>
          <a:bodyPr/>
          <a:lstStyle/>
          <a:p>
            <a:fld id="{0352B188-EF31-4F65-85E9-76461E193C9C}" type="datetimeFigureOut">
              <a:rPr lang="es-CO" smtClean="0"/>
              <a:t>17/07/2025</a:t>
            </a:fld>
            <a:endParaRPr lang="es-CO" dirty="0"/>
          </a:p>
        </p:txBody>
      </p:sp>
      <p:sp>
        <p:nvSpPr>
          <p:cNvPr id="6" name="Footer Placeholder 5"/>
          <p:cNvSpPr>
            <a:spLocks noGrp="1"/>
          </p:cNvSpPr>
          <p:nvPr>
            <p:ph type="ftr" sz="quarter" idx="11"/>
          </p:nvPr>
        </p:nvSpPr>
        <p:spPr/>
        <p:txBody>
          <a:bodyPr/>
          <a:lstStyle/>
          <a:p>
            <a:endParaRPr lang="es-CO" dirty="0"/>
          </a:p>
        </p:txBody>
      </p:sp>
      <p:sp>
        <p:nvSpPr>
          <p:cNvPr id="7" name="Slide Number Placeholder 6"/>
          <p:cNvSpPr>
            <a:spLocks noGrp="1"/>
          </p:cNvSpPr>
          <p:nvPr>
            <p:ph type="sldNum" sz="quarter" idx="12"/>
          </p:nvPr>
        </p:nvSpPr>
        <p:spPr/>
        <p:txBody>
          <a:bodyPr/>
          <a:lstStyle/>
          <a:p>
            <a:fld id="{70219BE4-C8F3-4CE3-A9F3-4CE3624EB41B}" type="slidenum">
              <a:rPr lang="es-CO" smtClean="0"/>
              <a:t>‹Nº›</a:t>
            </a:fld>
            <a:endParaRPr lang="es-CO" dirty="0"/>
          </a:p>
        </p:txBody>
      </p:sp>
    </p:spTree>
    <p:extLst>
      <p:ext uri="{BB962C8B-B14F-4D97-AF65-F5344CB8AC3E}">
        <p14:creationId xmlns:p14="http://schemas.microsoft.com/office/powerpoint/2010/main" val="40645243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a:t>Haz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10"/>
          </p:nvPr>
        </p:nvSpPr>
        <p:spPr/>
        <p:txBody>
          <a:bodyPr/>
          <a:lstStyle/>
          <a:p>
            <a:fld id="{0352B188-EF31-4F65-85E9-76461E193C9C}" type="datetimeFigureOut">
              <a:rPr lang="es-CO" smtClean="0"/>
              <a:t>17/07/2025</a:t>
            </a:fld>
            <a:endParaRPr lang="es-CO" dirty="0"/>
          </a:p>
        </p:txBody>
      </p:sp>
      <p:sp>
        <p:nvSpPr>
          <p:cNvPr id="5" name="Footer Placeholder 4"/>
          <p:cNvSpPr>
            <a:spLocks noGrp="1"/>
          </p:cNvSpPr>
          <p:nvPr>
            <p:ph type="ftr" sz="quarter" idx="11"/>
          </p:nvPr>
        </p:nvSpPr>
        <p:spPr/>
        <p:txBody>
          <a:bodyPr/>
          <a:lstStyle/>
          <a:p>
            <a:endParaRPr lang="es-CO" dirty="0"/>
          </a:p>
        </p:txBody>
      </p:sp>
      <p:sp>
        <p:nvSpPr>
          <p:cNvPr id="6" name="Slide Number Placeholder 5"/>
          <p:cNvSpPr>
            <a:spLocks noGrp="1"/>
          </p:cNvSpPr>
          <p:nvPr>
            <p:ph type="sldNum" sz="quarter" idx="12"/>
          </p:nvPr>
        </p:nvSpPr>
        <p:spPr/>
        <p:txBody>
          <a:bodyPr/>
          <a:lstStyle/>
          <a:p>
            <a:fld id="{70219BE4-C8F3-4CE3-A9F3-4CE3624EB41B}" type="slidenum">
              <a:rPr lang="es-CO" smtClean="0"/>
              <a:t>‹Nº›</a:t>
            </a:fld>
            <a:endParaRPr lang="es-CO" dirty="0"/>
          </a:p>
        </p:txBody>
      </p:sp>
    </p:spTree>
    <p:extLst>
      <p:ext uri="{BB962C8B-B14F-4D97-AF65-F5344CB8AC3E}">
        <p14:creationId xmlns:p14="http://schemas.microsoft.com/office/powerpoint/2010/main" val="8982534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s-MX"/>
              <a:t>Haz clic para modificar el estilo de título del patrón</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10"/>
          </p:nvPr>
        </p:nvSpPr>
        <p:spPr/>
        <p:txBody>
          <a:bodyPr/>
          <a:lstStyle/>
          <a:p>
            <a:fld id="{0352B188-EF31-4F65-85E9-76461E193C9C}" type="datetimeFigureOut">
              <a:rPr lang="es-CO" smtClean="0"/>
              <a:t>17/07/2025</a:t>
            </a:fld>
            <a:endParaRPr lang="es-CO" dirty="0"/>
          </a:p>
        </p:txBody>
      </p:sp>
      <p:sp>
        <p:nvSpPr>
          <p:cNvPr id="5" name="Footer Placeholder 4"/>
          <p:cNvSpPr>
            <a:spLocks noGrp="1"/>
          </p:cNvSpPr>
          <p:nvPr>
            <p:ph type="ftr" sz="quarter" idx="11"/>
          </p:nvPr>
        </p:nvSpPr>
        <p:spPr/>
        <p:txBody>
          <a:bodyPr/>
          <a:lstStyle/>
          <a:p>
            <a:endParaRPr lang="es-CO" dirty="0"/>
          </a:p>
        </p:txBody>
      </p:sp>
      <p:sp>
        <p:nvSpPr>
          <p:cNvPr id="6" name="Slide Number Placeholder 5"/>
          <p:cNvSpPr>
            <a:spLocks noGrp="1"/>
          </p:cNvSpPr>
          <p:nvPr>
            <p:ph type="sldNum" sz="quarter" idx="12"/>
          </p:nvPr>
        </p:nvSpPr>
        <p:spPr/>
        <p:txBody>
          <a:bodyPr/>
          <a:lstStyle/>
          <a:p>
            <a:fld id="{70219BE4-C8F3-4CE3-A9F3-4CE3624EB41B}" type="slidenum">
              <a:rPr lang="es-CO" smtClean="0"/>
              <a:t>‹Nº›</a:t>
            </a:fld>
            <a:endParaRPr lang="es-CO" dirty="0"/>
          </a:p>
        </p:txBody>
      </p:sp>
    </p:spTree>
    <p:extLst>
      <p:ext uri="{BB962C8B-B14F-4D97-AF65-F5344CB8AC3E}">
        <p14:creationId xmlns:p14="http://schemas.microsoft.com/office/powerpoint/2010/main" val="1894734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3">
            <a:lumMod val="20000"/>
            <a:lumOff val="80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MX"/>
              <a:t>Haz clic para modificar el estilo de título del patrón</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352B188-EF31-4F65-85E9-76461E193C9C}" type="datetimeFigureOut">
              <a:rPr lang="es-CO" smtClean="0"/>
              <a:t>17/07/2025</a:t>
            </a:fld>
            <a:endParaRPr lang="es-CO"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0219BE4-C8F3-4CE3-A9F3-4CE3624EB41B}" type="slidenum">
              <a:rPr lang="es-CO" smtClean="0"/>
              <a:t>‹Nº›</a:t>
            </a:fld>
            <a:endParaRPr lang="es-CO" dirty="0"/>
          </a:p>
        </p:txBody>
      </p:sp>
    </p:spTree>
    <p:extLst>
      <p:ext uri="{BB962C8B-B14F-4D97-AF65-F5344CB8AC3E}">
        <p14:creationId xmlns:p14="http://schemas.microsoft.com/office/powerpoint/2010/main" val="148238508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DE95A6F-B6BD-4D3B-9CA4-851DD0E25E1A}"/>
              </a:ext>
            </a:extLst>
          </p:cNvPr>
          <p:cNvSpPr>
            <a:spLocks noGrp="1"/>
          </p:cNvSpPr>
          <p:nvPr>
            <p:ph type="ctrTitle"/>
          </p:nvPr>
        </p:nvSpPr>
        <p:spPr>
          <a:xfrm>
            <a:off x="335280" y="259398"/>
            <a:ext cx="11003280" cy="898842"/>
          </a:xfrm>
        </p:spPr>
        <p:txBody>
          <a:bodyPr>
            <a:normAutofit/>
          </a:bodyPr>
          <a:lstStyle/>
          <a:p>
            <a:pPr algn="l"/>
            <a:r>
              <a:rPr lang="es-MX" sz="3600" b="1" i="1" dirty="0">
                <a:latin typeface="Arial" panose="020B0604020202020204" pitchFamily="34" charset="0"/>
                <a:cs typeface="Arial" panose="020B0604020202020204" pitchFamily="34" charset="0"/>
              </a:rPr>
              <a:t>Gimnasio del Campo Juan de la Cruz Varela     </a:t>
            </a:r>
            <a:endParaRPr lang="es-CO" sz="3600" b="1" i="1" dirty="0">
              <a:latin typeface="Arial" panose="020B0604020202020204" pitchFamily="34" charset="0"/>
              <a:cs typeface="Arial" panose="020B0604020202020204" pitchFamily="34" charset="0"/>
            </a:endParaRPr>
          </a:p>
        </p:txBody>
      </p:sp>
      <p:sp>
        <p:nvSpPr>
          <p:cNvPr id="3" name="Subtítulo 2">
            <a:extLst>
              <a:ext uri="{FF2B5EF4-FFF2-40B4-BE49-F238E27FC236}">
                <a16:creationId xmlns:a16="http://schemas.microsoft.com/office/drawing/2014/main" id="{9697BD3D-BF1E-4041-99CD-A723090A48A9}"/>
              </a:ext>
            </a:extLst>
          </p:cNvPr>
          <p:cNvSpPr>
            <a:spLocks noGrp="1"/>
          </p:cNvSpPr>
          <p:nvPr>
            <p:ph type="subTitle" idx="1"/>
          </p:nvPr>
        </p:nvSpPr>
        <p:spPr>
          <a:xfrm>
            <a:off x="1188720" y="1082358"/>
            <a:ext cx="9144000" cy="898842"/>
          </a:xfrm>
        </p:spPr>
        <p:txBody>
          <a:bodyPr>
            <a:normAutofit fontScale="92500"/>
          </a:bodyPr>
          <a:lstStyle/>
          <a:p>
            <a:r>
              <a:rPr lang="es-MX" b="1" dirty="0"/>
              <a:t>Segunda sesión de pruebas.</a:t>
            </a:r>
          </a:p>
          <a:p>
            <a:r>
              <a:rPr lang="es-MX" b="1" dirty="0"/>
              <a:t>Área: </a:t>
            </a:r>
            <a:r>
              <a:rPr lang="es-MX" b="1" u="sng" dirty="0"/>
              <a:t>Ciencias Naturales (Biología)  </a:t>
            </a:r>
            <a:r>
              <a:rPr lang="es-MX" b="1" dirty="0"/>
              <a:t>Grado: </a:t>
            </a:r>
            <a:r>
              <a:rPr lang="es-MX" b="1" u="sng" dirty="0"/>
              <a:t>sexto y  séptimo  </a:t>
            </a:r>
            <a:r>
              <a:rPr lang="es-MX" b="1" dirty="0"/>
              <a:t>Fecha………………</a:t>
            </a:r>
            <a:endParaRPr lang="es-CO" b="1" dirty="0"/>
          </a:p>
        </p:txBody>
      </p:sp>
      <p:sp>
        <p:nvSpPr>
          <p:cNvPr id="4" name="CuadroTexto 3">
            <a:extLst>
              <a:ext uri="{FF2B5EF4-FFF2-40B4-BE49-F238E27FC236}">
                <a16:creationId xmlns:a16="http://schemas.microsoft.com/office/drawing/2014/main" id="{986403DF-318C-4946-A3A0-D10342F1A0B6}"/>
              </a:ext>
            </a:extLst>
          </p:cNvPr>
          <p:cNvSpPr txBox="1"/>
          <p:nvPr/>
        </p:nvSpPr>
        <p:spPr>
          <a:xfrm>
            <a:off x="238760" y="1905319"/>
            <a:ext cx="10764520" cy="4493538"/>
          </a:xfrm>
          <a:prstGeom prst="rect">
            <a:avLst/>
          </a:prstGeom>
          <a:noFill/>
        </p:spPr>
        <p:txBody>
          <a:bodyPr wrap="square" rtlCol="0">
            <a:spAutoFit/>
          </a:bodyPr>
          <a:lstStyle/>
          <a:p>
            <a:pPr marL="457200" indent="-457200">
              <a:buFont typeface="+mj-lt"/>
              <a:buAutoNum type="arabicPeriod"/>
            </a:pPr>
            <a:r>
              <a:rPr lang="es-ES" sz="2200" dirty="0">
                <a:latin typeface="Arial" panose="020B0604020202020204" pitchFamily="34" charset="0"/>
                <a:cs typeface="Arial" panose="020B0604020202020204" pitchFamily="34" charset="0"/>
              </a:rPr>
              <a:t>Este esquema muestra un momento (momento 1) en una célula en el que se encuentran ocurriendo simultáneamente los principales mecanismos de intercambio de sustancias con el medio a través de la membrana celular. </a:t>
            </a:r>
          </a:p>
          <a:p>
            <a:pPr marL="457200" indent="-457200">
              <a:buFont typeface="+mj-lt"/>
              <a:buAutoNum type="arabicPeriod"/>
            </a:pPr>
            <a:endParaRPr lang="es-ES" sz="2200" dirty="0">
              <a:latin typeface="Arial" panose="020B0604020202020204" pitchFamily="34" charset="0"/>
              <a:cs typeface="Arial" panose="020B0604020202020204" pitchFamily="34" charset="0"/>
            </a:endParaRPr>
          </a:p>
          <a:p>
            <a:pPr marL="457200" indent="-457200">
              <a:buFont typeface="+mj-lt"/>
              <a:buAutoNum type="arabicPeriod"/>
            </a:pPr>
            <a:endParaRPr lang="es-ES" sz="2200" dirty="0">
              <a:latin typeface="Arial" panose="020B0604020202020204" pitchFamily="34" charset="0"/>
              <a:cs typeface="Arial" panose="020B0604020202020204" pitchFamily="34" charset="0"/>
            </a:endParaRPr>
          </a:p>
          <a:p>
            <a:pPr marL="457200" indent="-457200">
              <a:buFont typeface="+mj-lt"/>
              <a:buAutoNum type="arabicPeriod"/>
            </a:pPr>
            <a:endParaRPr lang="es-ES" sz="2200" dirty="0">
              <a:latin typeface="Arial" panose="020B0604020202020204" pitchFamily="34" charset="0"/>
              <a:cs typeface="Arial" panose="020B0604020202020204" pitchFamily="34" charset="0"/>
            </a:endParaRPr>
          </a:p>
          <a:p>
            <a:pPr marL="457200" indent="-457200">
              <a:buFont typeface="+mj-lt"/>
              <a:buAutoNum type="arabicPeriod"/>
            </a:pPr>
            <a:endParaRPr lang="es-ES" sz="2200" dirty="0">
              <a:latin typeface="Arial" panose="020B0604020202020204" pitchFamily="34" charset="0"/>
              <a:cs typeface="Arial" panose="020B0604020202020204" pitchFamily="34" charset="0"/>
            </a:endParaRPr>
          </a:p>
          <a:p>
            <a:pPr marL="457200" indent="-457200">
              <a:buFont typeface="+mj-lt"/>
              <a:buAutoNum type="arabicPeriod"/>
            </a:pPr>
            <a:endParaRPr lang="es-ES" sz="2200" dirty="0">
              <a:latin typeface="Arial" panose="020B0604020202020204" pitchFamily="34" charset="0"/>
              <a:cs typeface="Arial" panose="020B0604020202020204" pitchFamily="34" charset="0"/>
            </a:endParaRPr>
          </a:p>
          <a:p>
            <a:pPr marL="457200" indent="-457200">
              <a:buFont typeface="+mj-lt"/>
              <a:buAutoNum type="arabicPeriod"/>
            </a:pPr>
            <a:endParaRPr lang="es-ES" sz="2200" dirty="0">
              <a:latin typeface="Arial" panose="020B0604020202020204" pitchFamily="34" charset="0"/>
              <a:cs typeface="Arial" panose="020B0604020202020204" pitchFamily="34" charset="0"/>
            </a:endParaRPr>
          </a:p>
          <a:p>
            <a:pPr marL="457200" indent="-457200">
              <a:buFont typeface="+mj-lt"/>
              <a:buAutoNum type="arabicPeriod"/>
            </a:pPr>
            <a:endParaRPr lang="es-ES" sz="2200" dirty="0">
              <a:latin typeface="Arial" panose="020B0604020202020204" pitchFamily="34" charset="0"/>
              <a:cs typeface="Arial" panose="020B0604020202020204" pitchFamily="34" charset="0"/>
            </a:endParaRPr>
          </a:p>
          <a:p>
            <a:pPr marL="457200" indent="-457200">
              <a:buFont typeface="+mj-lt"/>
              <a:buAutoNum type="arabicPeriod"/>
            </a:pPr>
            <a:endParaRPr lang="es-ES" sz="2200" dirty="0">
              <a:latin typeface="Arial" panose="020B0604020202020204" pitchFamily="34" charset="0"/>
              <a:cs typeface="Arial" panose="020B0604020202020204" pitchFamily="34" charset="0"/>
            </a:endParaRPr>
          </a:p>
          <a:p>
            <a:endParaRPr lang="es-MX" sz="2200" dirty="0">
              <a:latin typeface="Arial" panose="020B0604020202020204" pitchFamily="34" charset="0"/>
              <a:cs typeface="Arial" panose="020B0604020202020204" pitchFamily="34" charset="0"/>
            </a:endParaRPr>
          </a:p>
          <a:p>
            <a:endParaRPr lang="es-MX" sz="2200" dirty="0">
              <a:latin typeface="Arial" panose="020B0604020202020204" pitchFamily="34" charset="0"/>
              <a:cs typeface="Arial" panose="020B0604020202020204" pitchFamily="34" charset="0"/>
            </a:endParaRPr>
          </a:p>
        </p:txBody>
      </p:sp>
      <p:pic>
        <p:nvPicPr>
          <p:cNvPr id="5" name="Imagen 4">
            <a:extLst>
              <a:ext uri="{FF2B5EF4-FFF2-40B4-BE49-F238E27FC236}">
                <a16:creationId xmlns:a16="http://schemas.microsoft.com/office/drawing/2014/main" id="{1777C332-B8A1-4792-9ACD-F5C26990CEBB}"/>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10196830" y="503238"/>
            <a:ext cx="638810" cy="579120"/>
          </a:xfrm>
          <a:prstGeom prst="rect">
            <a:avLst/>
          </a:prstGeom>
          <a:noFill/>
        </p:spPr>
      </p:pic>
      <p:pic>
        <p:nvPicPr>
          <p:cNvPr id="6" name="Imagen 5">
            <a:extLst>
              <a:ext uri="{FF2B5EF4-FFF2-40B4-BE49-F238E27FC236}">
                <a16:creationId xmlns:a16="http://schemas.microsoft.com/office/drawing/2014/main" id="{10B08891-3DE2-E731-E8A2-EE1A94D799D2}"/>
              </a:ext>
            </a:extLst>
          </p:cNvPr>
          <p:cNvPicPr>
            <a:picLocks noChangeAspect="1"/>
          </p:cNvPicPr>
          <p:nvPr/>
        </p:nvPicPr>
        <p:blipFill>
          <a:blip r:embed="rId3"/>
          <a:stretch>
            <a:fillRect/>
          </a:stretch>
        </p:blipFill>
        <p:spPr>
          <a:xfrm>
            <a:off x="2178790" y="3005911"/>
            <a:ext cx="6514636" cy="3615303"/>
          </a:xfrm>
          <a:prstGeom prst="rect">
            <a:avLst/>
          </a:prstGeom>
        </p:spPr>
      </p:pic>
    </p:spTree>
    <p:extLst>
      <p:ext uri="{BB962C8B-B14F-4D97-AF65-F5344CB8AC3E}">
        <p14:creationId xmlns:p14="http://schemas.microsoft.com/office/powerpoint/2010/main" val="9580539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B2FBDE37-B5C4-C7BC-5017-412AFE608DFD}"/>
              </a:ext>
            </a:extLst>
          </p:cNvPr>
          <p:cNvSpPr>
            <a:spLocks noGrp="1"/>
          </p:cNvSpPr>
          <p:nvPr>
            <p:ph idx="1"/>
          </p:nvPr>
        </p:nvSpPr>
        <p:spPr>
          <a:xfrm>
            <a:off x="838200" y="1875683"/>
            <a:ext cx="10515600" cy="3106634"/>
          </a:xfrm>
        </p:spPr>
        <p:txBody>
          <a:bodyPr/>
          <a:lstStyle/>
          <a:p>
            <a:pPr marL="0" indent="0">
              <a:buNone/>
            </a:pPr>
            <a:r>
              <a:rPr lang="es-ES" sz="2200" dirty="0">
                <a:latin typeface="Arial" panose="020B0604020202020204" pitchFamily="34" charset="0"/>
                <a:cs typeface="Arial" panose="020B0604020202020204" pitchFamily="34" charset="0"/>
              </a:rPr>
              <a:t>Si en un momento determinado (momento 2) en esta célula se observa que el número de moléculas A que ingresan a la célula es mayor que las que salen de ella, se puede suponer que muy posiblemente dentro de la célula hay </a:t>
            </a:r>
          </a:p>
          <a:p>
            <a:pPr marL="0" indent="0">
              <a:buNone/>
            </a:pPr>
            <a:r>
              <a:rPr lang="es-ES" sz="2200" dirty="0">
                <a:latin typeface="Arial" panose="020B0604020202020204" pitchFamily="34" charset="0"/>
                <a:cs typeface="Arial" panose="020B0604020202020204" pitchFamily="34" charset="0"/>
              </a:rPr>
              <a:t>A. mayor concentración de moléculas A que en el exterior </a:t>
            </a:r>
          </a:p>
          <a:p>
            <a:pPr marL="0" indent="0">
              <a:buNone/>
            </a:pPr>
            <a:r>
              <a:rPr lang="es-ES" sz="2200" dirty="0">
                <a:latin typeface="Arial" panose="020B0604020202020204" pitchFamily="34" charset="0"/>
                <a:cs typeface="Arial" panose="020B0604020202020204" pitchFamily="34" charset="0"/>
              </a:rPr>
              <a:t>B. menor concentración de moléculas A que en el exterior</a:t>
            </a:r>
          </a:p>
          <a:p>
            <a:pPr marL="0" indent="0">
              <a:buNone/>
            </a:pPr>
            <a:r>
              <a:rPr lang="es-ES" sz="2200" dirty="0">
                <a:latin typeface="Arial" panose="020B0604020202020204" pitchFamily="34" charset="0"/>
                <a:cs typeface="Arial" panose="020B0604020202020204" pitchFamily="34" charset="0"/>
              </a:rPr>
              <a:t>C. igual concentración de moléculas A que en el exterior </a:t>
            </a:r>
          </a:p>
          <a:p>
            <a:pPr marL="0" indent="0">
              <a:buNone/>
            </a:pPr>
            <a:r>
              <a:rPr lang="es-ES" sz="2200" dirty="0">
                <a:latin typeface="Arial" panose="020B0604020202020204" pitchFamily="34" charset="0"/>
                <a:cs typeface="Arial" panose="020B0604020202020204" pitchFamily="34" charset="0"/>
              </a:rPr>
              <a:t>D. ausencia de moléculas A.</a:t>
            </a:r>
          </a:p>
          <a:p>
            <a:pPr marL="0" indent="0">
              <a:buNone/>
            </a:pPr>
            <a:endParaRPr lang="es-CO" dirty="0"/>
          </a:p>
        </p:txBody>
      </p:sp>
    </p:spTree>
    <p:extLst>
      <p:ext uri="{BB962C8B-B14F-4D97-AF65-F5344CB8AC3E}">
        <p14:creationId xmlns:p14="http://schemas.microsoft.com/office/powerpoint/2010/main" val="38399533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6086DD1-3A9E-F976-0D03-6878B8189704}"/>
              </a:ext>
            </a:extLst>
          </p:cNvPr>
          <p:cNvSpPr>
            <a:spLocks noGrp="1"/>
          </p:cNvSpPr>
          <p:nvPr>
            <p:ph type="title"/>
          </p:nvPr>
        </p:nvSpPr>
        <p:spPr>
          <a:xfrm>
            <a:off x="739726" y="315277"/>
            <a:ext cx="10515600" cy="635611"/>
          </a:xfrm>
        </p:spPr>
        <p:txBody>
          <a:bodyPr>
            <a:normAutofit/>
          </a:bodyPr>
          <a:lstStyle/>
          <a:p>
            <a:r>
              <a:rPr lang="es-ES" sz="2200" dirty="0">
                <a:latin typeface="Arial" panose="020B0604020202020204" pitchFamily="34" charset="0"/>
                <a:cs typeface="Arial" panose="020B0604020202020204" pitchFamily="34" charset="0"/>
              </a:rPr>
              <a:t>2. En la figura se muestra el modelo del proceso de respiración celular</a:t>
            </a:r>
            <a:endParaRPr lang="es-CO" sz="2200" dirty="0">
              <a:latin typeface="Arial" panose="020B0604020202020204" pitchFamily="34" charset="0"/>
              <a:cs typeface="Arial" panose="020B0604020202020204" pitchFamily="34" charset="0"/>
            </a:endParaRPr>
          </a:p>
        </p:txBody>
      </p:sp>
      <p:sp>
        <p:nvSpPr>
          <p:cNvPr id="4" name="Marcador de contenido 3">
            <a:extLst>
              <a:ext uri="{FF2B5EF4-FFF2-40B4-BE49-F238E27FC236}">
                <a16:creationId xmlns:a16="http://schemas.microsoft.com/office/drawing/2014/main" id="{510D9753-80DB-AE57-7963-C091CE6A9BDE}"/>
              </a:ext>
            </a:extLst>
          </p:cNvPr>
          <p:cNvSpPr>
            <a:spLocks noGrp="1"/>
          </p:cNvSpPr>
          <p:nvPr>
            <p:ph sz="half" idx="2"/>
          </p:nvPr>
        </p:nvSpPr>
        <p:spPr>
          <a:xfrm>
            <a:off x="5233182" y="801858"/>
            <a:ext cx="6738424" cy="4866128"/>
          </a:xfrm>
        </p:spPr>
        <p:txBody>
          <a:bodyPr>
            <a:noAutofit/>
          </a:bodyPr>
          <a:lstStyle/>
          <a:p>
            <a:pPr marL="0" indent="0">
              <a:lnSpc>
                <a:spcPct val="120000"/>
              </a:lnSpc>
              <a:buNone/>
            </a:pPr>
            <a:r>
              <a:rPr lang="es-CO" sz="2000" dirty="0">
                <a:latin typeface="Arial" panose="020B0604020202020204" pitchFamily="34" charset="0"/>
                <a:cs typeface="Arial" panose="020B0604020202020204" pitchFamily="34" charset="0"/>
              </a:rPr>
              <a:t>Según el modelo, ¿cómo se relacionan la membrana celular y la mitocondria en la respiración celular?</a:t>
            </a:r>
          </a:p>
          <a:p>
            <a:pPr marL="0" indent="0">
              <a:lnSpc>
                <a:spcPct val="120000"/>
              </a:lnSpc>
              <a:buNone/>
            </a:pPr>
            <a:r>
              <a:rPr lang="es-CO" sz="2000" dirty="0">
                <a:latin typeface="Arial" panose="020B0604020202020204" pitchFamily="34" charset="0"/>
                <a:cs typeface="Arial" panose="020B0604020202020204" pitchFamily="34" charset="0"/>
              </a:rPr>
              <a:t>A. La mitocondria desintegra la membrana celular y luego usa sus componentes en la producción de</a:t>
            </a:r>
          </a:p>
          <a:p>
            <a:pPr marL="0" indent="0">
              <a:lnSpc>
                <a:spcPct val="120000"/>
              </a:lnSpc>
              <a:buNone/>
            </a:pPr>
            <a:r>
              <a:rPr lang="es-CO" sz="2000" dirty="0">
                <a:latin typeface="Arial" panose="020B0604020202020204" pitchFamily="34" charset="0"/>
                <a:cs typeface="Arial" panose="020B0604020202020204" pitchFamily="34" charset="0"/>
              </a:rPr>
              <a:t>energía.</a:t>
            </a:r>
          </a:p>
          <a:p>
            <a:pPr marL="0" indent="0">
              <a:lnSpc>
                <a:spcPct val="120000"/>
              </a:lnSpc>
              <a:buNone/>
            </a:pPr>
            <a:r>
              <a:rPr lang="es-CO" sz="2000" dirty="0">
                <a:latin typeface="Arial" panose="020B0604020202020204" pitchFamily="34" charset="0"/>
                <a:cs typeface="Arial" panose="020B0604020202020204" pitchFamily="34" charset="0"/>
              </a:rPr>
              <a:t>B. La membrana celular permite el ingreso de glucosa, y su producto lo usa la mitocondria para</a:t>
            </a:r>
          </a:p>
          <a:p>
            <a:pPr marL="0" indent="0">
              <a:lnSpc>
                <a:spcPct val="120000"/>
              </a:lnSpc>
              <a:buNone/>
            </a:pPr>
            <a:r>
              <a:rPr lang="es-CO" sz="2000" dirty="0">
                <a:latin typeface="Arial" panose="020B0604020202020204" pitchFamily="34" charset="0"/>
                <a:cs typeface="Arial" panose="020B0604020202020204" pitchFamily="34" charset="0"/>
              </a:rPr>
              <a:t>producir energía.</a:t>
            </a:r>
          </a:p>
          <a:p>
            <a:pPr marL="0" indent="0">
              <a:lnSpc>
                <a:spcPct val="120000"/>
              </a:lnSpc>
              <a:buNone/>
            </a:pPr>
            <a:r>
              <a:rPr lang="es-CO" sz="2000" dirty="0">
                <a:latin typeface="Arial" panose="020B0604020202020204" pitchFamily="34" charset="0"/>
                <a:cs typeface="Arial" panose="020B0604020202020204" pitchFamily="34" charset="0"/>
              </a:rPr>
              <a:t>C. En la membrana celular se dan las mismas reacciones que ocurren en la mitocondria durante la producción de energía.</a:t>
            </a:r>
          </a:p>
          <a:p>
            <a:pPr marL="0" indent="0">
              <a:lnSpc>
                <a:spcPct val="120000"/>
              </a:lnSpc>
              <a:buNone/>
            </a:pPr>
            <a:r>
              <a:rPr lang="es-CO" sz="2000" dirty="0">
                <a:latin typeface="Arial" panose="020B0604020202020204" pitchFamily="34" charset="0"/>
                <a:cs typeface="Arial" panose="020B0604020202020204" pitchFamily="34" charset="0"/>
              </a:rPr>
              <a:t>D. La membrana celular permite el ingreso de mitocondrias al interior de la célula, para que la glucosa realice la producción de energía.</a:t>
            </a:r>
          </a:p>
          <a:p>
            <a:pPr marL="0" indent="0">
              <a:buNone/>
            </a:pPr>
            <a:endParaRPr lang="es-CO" sz="2200" dirty="0"/>
          </a:p>
        </p:txBody>
      </p:sp>
      <p:pic>
        <p:nvPicPr>
          <p:cNvPr id="5" name="Marcador de contenido 4">
            <a:extLst>
              <a:ext uri="{FF2B5EF4-FFF2-40B4-BE49-F238E27FC236}">
                <a16:creationId xmlns:a16="http://schemas.microsoft.com/office/drawing/2014/main" id="{C4817C61-8377-60B3-9495-90B883328238}"/>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430237" y="1466456"/>
            <a:ext cx="4508856" cy="3541641"/>
          </a:xfrm>
          <a:prstGeom prst="rect">
            <a:avLst/>
          </a:prstGeom>
          <a:noFill/>
          <a:ln>
            <a:noFill/>
          </a:ln>
        </p:spPr>
      </p:pic>
    </p:spTree>
    <p:extLst>
      <p:ext uri="{BB962C8B-B14F-4D97-AF65-F5344CB8AC3E}">
        <p14:creationId xmlns:p14="http://schemas.microsoft.com/office/powerpoint/2010/main" val="26378922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BF06FCC-C88E-33EF-9646-04152B87D57C}"/>
              </a:ext>
            </a:extLst>
          </p:cNvPr>
          <p:cNvSpPr>
            <a:spLocks noGrp="1"/>
          </p:cNvSpPr>
          <p:nvPr>
            <p:ph type="title"/>
          </p:nvPr>
        </p:nvSpPr>
        <p:spPr>
          <a:xfrm>
            <a:off x="788377" y="492369"/>
            <a:ext cx="10767646" cy="888830"/>
          </a:xfrm>
        </p:spPr>
        <p:txBody>
          <a:bodyPr>
            <a:normAutofit/>
          </a:bodyPr>
          <a:lstStyle/>
          <a:p>
            <a:r>
              <a:rPr lang="es-ES" sz="2200" dirty="0">
                <a:latin typeface="Arial" panose="020B0604020202020204" pitchFamily="34" charset="0"/>
                <a:cs typeface="Arial" panose="020B0604020202020204" pitchFamily="34" charset="0"/>
              </a:rPr>
              <a:t>3. En una zona rural, se propone la construcción de una planta de tratamiento de agua (ver figura) para potabilizar el agua de un río.</a:t>
            </a:r>
            <a:endParaRPr lang="es-CO" sz="2200" dirty="0">
              <a:latin typeface="Arial" panose="020B0604020202020204" pitchFamily="34" charset="0"/>
              <a:cs typeface="Arial" panose="020B0604020202020204" pitchFamily="34" charset="0"/>
            </a:endParaRPr>
          </a:p>
        </p:txBody>
      </p:sp>
      <p:sp>
        <p:nvSpPr>
          <p:cNvPr id="4" name="Marcador de contenido 3">
            <a:extLst>
              <a:ext uri="{FF2B5EF4-FFF2-40B4-BE49-F238E27FC236}">
                <a16:creationId xmlns:a16="http://schemas.microsoft.com/office/drawing/2014/main" id="{6CBADB65-6D91-31C9-7A9C-230B01D1565F}"/>
              </a:ext>
            </a:extLst>
          </p:cNvPr>
          <p:cNvSpPr>
            <a:spLocks noGrp="1"/>
          </p:cNvSpPr>
          <p:nvPr>
            <p:ph sz="half" idx="2"/>
          </p:nvPr>
        </p:nvSpPr>
        <p:spPr>
          <a:xfrm>
            <a:off x="4994031" y="1617785"/>
            <a:ext cx="6359769" cy="4559178"/>
          </a:xfrm>
        </p:spPr>
        <p:txBody>
          <a:bodyPr>
            <a:normAutofit/>
          </a:bodyPr>
          <a:lstStyle/>
          <a:p>
            <a:pPr marL="0" indent="0">
              <a:buNone/>
            </a:pPr>
            <a:r>
              <a:rPr lang="es-ES" sz="2200" dirty="0">
                <a:latin typeface="Arial" panose="020B0604020202020204" pitchFamily="34" charset="0"/>
                <a:cs typeface="Arial" panose="020B0604020202020204" pitchFamily="34" charset="0"/>
              </a:rPr>
              <a:t>Esta obra es importante porque</a:t>
            </a:r>
          </a:p>
          <a:p>
            <a:pPr marL="0" indent="0">
              <a:buNone/>
            </a:pPr>
            <a:r>
              <a:rPr lang="es-ES" sz="2200" dirty="0">
                <a:latin typeface="Arial" panose="020B0604020202020204" pitchFamily="34" charset="0"/>
                <a:cs typeface="Arial" panose="020B0604020202020204" pitchFamily="34" charset="0"/>
              </a:rPr>
              <a:t>A. el agua del río puede contener elementos contaminantes que, si no se retiran, enfermarían a las personas.</a:t>
            </a:r>
          </a:p>
          <a:p>
            <a:pPr marL="0" indent="0">
              <a:buNone/>
            </a:pPr>
            <a:r>
              <a:rPr lang="es-ES" sz="2200" dirty="0">
                <a:latin typeface="Arial" panose="020B0604020202020204" pitchFamily="34" charset="0"/>
                <a:cs typeface="Arial" panose="020B0604020202020204" pitchFamily="34" charset="0"/>
              </a:rPr>
              <a:t>B. el agua del río es muy fría y, si se consume a tan baja temperatura, puede ocasionar gripa en las personas.</a:t>
            </a:r>
          </a:p>
          <a:p>
            <a:pPr marL="0" indent="0">
              <a:buNone/>
            </a:pPr>
            <a:r>
              <a:rPr lang="es-ES" sz="2200" dirty="0">
                <a:latin typeface="Arial" panose="020B0604020202020204" pitchFamily="34" charset="0"/>
                <a:cs typeface="Arial" panose="020B0604020202020204" pitchFamily="34" charset="0"/>
              </a:rPr>
              <a:t>C. hará que el río deje de inundar los cultivos de los campesinos que siembran en su ladera.</a:t>
            </a:r>
          </a:p>
          <a:p>
            <a:pPr marL="0" indent="0">
              <a:buNone/>
            </a:pPr>
            <a:r>
              <a:rPr lang="es-ES" sz="2200" dirty="0">
                <a:latin typeface="Arial" panose="020B0604020202020204" pitchFamily="34" charset="0"/>
                <a:cs typeface="Arial" panose="020B0604020202020204" pitchFamily="34" charset="0"/>
              </a:rPr>
              <a:t>D. hará que las personas se bañen en el río sin el peligro de ser arrastradas por la corriente.</a:t>
            </a:r>
          </a:p>
          <a:p>
            <a:pPr marL="0" indent="0">
              <a:buNone/>
            </a:pPr>
            <a:endParaRPr lang="es-CO" sz="2200" dirty="0">
              <a:latin typeface="Arial" panose="020B0604020202020204" pitchFamily="34" charset="0"/>
              <a:cs typeface="Arial" panose="020B0604020202020204" pitchFamily="34" charset="0"/>
            </a:endParaRPr>
          </a:p>
        </p:txBody>
      </p:sp>
      <p:pic>
        <p:nvPicPr>
          <p:cNvPr id="5" name="Marcador de contenido 4">
            <a:extLst>
              <a:ext uri="{FF2B5EF4-FFF2-40B4-BE49-F238E27FC236}">
                <a16:creationId xmlns:a16="http://schemas.microsoft.com/office/drawing/2014/main" id="{E2A17424-9FD4-C4AA-766B-E9FC35BAD8D5}"/>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476852" y="1743285"/>
            <a:ext cx="4383316" cy="3729047"/>
          </a:xfrm>
          <a:prstGeom prst="rect">
            <a:avLst/>
          </a:prstGeom>
          <a:noFill/>
          <a:ln>
            <a:noFill/>
          </a:ln>
        </p:spPr>
      </p:pic>
    </p:spTree>
    <p:extLst>
      <p:ext uri="{BB962C8B-B14F-4D97-AF65-F5344CB8AC3E}">
        <p14:creationId xmlns:p14="http://schemas.microsoft.com/office/powerpoint/2010/main" val="4738961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00D4EF8-AA55-3789-D513-41FA80631D1E}"/>
              </a:ext>
            </a:extLst>
          </p:cNvPr>
          <p:cNvSpPr>
            <a:spLocks noGrp="1"/>
          </p:cNvSpPr>
          <p:nvPr>
            <p:ph type="title"/>
          </p:nvPr>
        </p:nvSpPr>
        <p:spPr>
          <a:xfrm>
            <a:off x="488851" y="140677"/>
            <a:ext cx="11088860" cy="1929839"/>
          </a:xfrm>
        </p:spPr>
        <p:txBody>
          <a:bodyPr>
            <a:normAutofit/>
          </a:bodyPr>
          <a:lstStyle/>
          <a:p>
            <a:r>
              <a:rPr lang="es-ES" sz="2200" b="1" i="1" dirty="0">
                <a:latin typeface="Arial" panose="020B0604020202020204" pitchFamily="34" charset="0"/>
                <a:cs typeface="Arial" panose="020B0604020202020204" pitchFamily="34" charset="0"/>
              </a:rPr>
              <a:t>Responda las preguntas 4 y 5</a:t>
            </a:r>
            <a:br>
              <a:rPr lang="es-ES" sz="2200" dirty="0">
                <a:latin typeface="Arial" panose="020B0604020202020204" pitchFamily="34" charset="0"/>
                <a:cs typeface="Arial" panose="020B0604020202020204" pitchFamily="34" charset="0"/>
              </a:rPr>
            </a:br>
            <a:br>
              <a:rPr lang="es-ES" sz="2200" dirty="0">
                <a:latin typeface="Arial" panose="020B0604020202020204" pitchFamily="34" charset="0"/>
                <a:cs typeface="Arial" panose="020B0604020202020204" pitchFamily="34" charset="0"/>
              </a:rPr>
            </a:br>
            <a:r>
              <a:rPr lang="es-ES" sz="2200" dirty="0">
                <a:latin typeface="Arial" panose="020B0604020202020204" pitchFamily="34" charset="0"/>
                <a:cs typeface="Arial" panose="020B0604020202020204" pitchFamily="34" charset="0"/>
              </a:rPr>
              <a:t>4.El esquema representa el proceso de fagocitosis celular, en el cual las células forman vesículas con partículas del medio ambiente para introducirlas en el citoplasma en donde son digeridas. De acuerdo con el esquema las moléculas 1 y 3 representarían </a:t>
            </a:r>
            <a:endParaRPr lang="es-CO" sz="2200" dirty="0">
              <a:latin typeface="Arial" panose="020B0604020202020204" pitchFamily="34" charset="0"/>
              <a:cs typeface="Arial" panose="020B0604020202020204" pitchFamily="34" charset="0"/>
            </a:endParaRPr>
          </a:p>
        </p:txBody>
      </p:sp>
      <p:sp>
        <p:nvSpPr>
          <p:cNvPr id="4" name="Marcador de contenido 3">
            <a:extLst>
              <a:ext uri="{FF2B5EF4-FFF2-40B4-BE49-F238E27FC236}">
                <a16:creationId xmlns:a16="http://schemas.microsoft.com/office/drawing/2014/main" id="{677240D1-1ED2-9972-D682-F7B8B80865DA}"/>
              </a:ext>
            </a:extLst>
          </p:cNvPr>
          <p:cNvSpPr>
            <a:spLocks noGrp="1"/>
          </p:cNvSpPr>
          <p:nvPr>
            <p:ph sz="half" idx="2"/>
          </p:nvPr>
        </p:nvSpPr>
        <p:spPr>
          <a:xfrm>
            <a:off x="488851" y="2884734"/>
            <a:ext cx="6305844" cy="2179635"/>
          </a:xfrm>
        </p:spPr>
        <p:txBody>
          <a:bodyPr>
            <a:normAutofit/>
          </a:bodyPr>
          <a:lstStyle/>
          <a:p>
            <a:pPr marL="0" indent="0">
              <a:buNone/>
            </a:pPr>
            <a:r>
              <a:rPr lang="es-ES" sz="2400" dirty="0">
                <a:latin typeface="Arial" panose="020B0604020202020204" pitchFamily="34" charset="0"/>
                <a:cs typeface="Arial" panose="020B0604020202020204" pitchFamily="34" charset="0"/>
              </a:rPr>
              <a:t>A. 1 alimento y 3 sustancias de excreción </a:t>
            </a:r>
          </a:p>
          <a:p>
            <a:pPr marL="0" indent="0">
              <a:buNone/>
            </a:pPr>
            <a:r>
              <a:rPr lang="es-ES" sz="2400" dirty="0">
                <a:latin typeface="Arial" panose="020B0604020202020204" pitchFamily="34" charset="0"/>
                <a:cs typeface="Arial" panose="020B0604020202020204" pitchFamily="34" charset="0"/>
              </a:rPr>
              <a:t>B. 1 micromoléculas y 3 macromoléculas</a:t>
            </a:r>
          </a:p>
          <a:p>
            <a:pPr marL="0" indent="0">
              <a:buNone/>
            </a:pPr>
            <a:r>
              <a:rPr lang="es-ES" sz="2400" dirty="0">
                <a:latin typeface="Arial" panose="020B0604020202020204" pitchFamily="34" charset="0"/>
                <a:cs typeface="Arial" panose="020B0604020202020204" pitchFamily="34" charset="0"/>
              </a:rPr>
              <a:t>C. 1 alimento y 3 agua </a:t>
            </a:r>
          </a:p>
          <a:p>
            <a:pPr marL="0" indent="0">
              <a:buNone/>
            </a:pPr>
            <a:r>
              <a:rPr lang="es-ES" sz="2400" dirty="0">
                <a:latin typeface="Arial" panose="020B0604020202020204" pitchFamily="34" charset="0"/>
                <a:cs typeface="Arial" panose="020B0604020202020204" pitchFamily="34" charset="0"/>
              </a:rPr>
              <a:t>D. 1 proteínas y 3 enzimas</a:t>
            </a:r>
          </a:p>
          <a:p>
            <a:pPr marL="0" indent="0">
              <a:buNone/>
            </a:pPr>
            <a:endParaRPr lang="es-CO" dirty="0"/>
          </a:p>
        </p:txBody>
      </p:sp>
      <p:pic>
        <p:nvPicPr>
          <p:cNvPr id="5" name="Marcador de contenido 4">
            <a:extLst>
              <a:ext uri="{FF2B5EF4-FFF2-40B4-BE49-F238E27FC236}">
                <a16:creationId xmlns:a16="http://schemas.microsoft.com/office/drawing/2014/main" id="{E792A530-79FE-5911-1DFA-F678A6C50959}"/>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6914895" y="2298312"/>
            <a:ext cx="4788254" cy="4194563"/>
          </a:xfrm>
          <a:prstGeom prst="rect">
            <a:avLst/>
          </a:prstGeom>
          <a:noFill/>
          <a:ln>
            <a:noFill/>
          </a:ln>
        </p:spPr>
      </p:pic>
    </p:spTree>
    <p:extLst>
      <p:ext uri="{BB962C8B-B14F-4D97-AF65-F5344CB8AC3E}">
        <p14:creationId xmlns:p14="http://schemas.microsoft.com/office/powerpoint/2010/main" val="36588352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715EE31-4F31-E941-EE3C-FAF1349AF722}"/>
              </a:ext>
            </a:extLst>
          </p:cNvPr>
          <p:cNvSpPr>
            <a:spLocks noGrp="1"/>
          </p:cNvSpPr>
          <p:nvPr>
            <p:ph type="title"/>
          </p:nvPr>
        </p:nvSpPr>
        <p:spPr>
          <a:xfrm>
            <a:off x="838200" y="934968"/>
            <a:ext cx="10515600" cy="1325563"/>
          </a:xfrm>
        </p:spPr>
        <p:txBody>
          <a:bodyPr>
            <a:normAutofit/>
          </a:bodyPr>
          <a:lstStyle/>
          <a:p>
            <a:r>
              <a:rPr lang="es-ES" sz="2200" dirty="0">
                <a:latin typeface="Arial" panose="020B0604020202020204" pitchFamily="34" charset="0"/>
                <a:cs typeface="Arial" panose="020B0604020202020204" pitchFamily="34" charset="0"/>
              </a:rPr>
              <a:t>5. Los procesos anteriormente nombrados se realizan en las células con la participación de uno organelos celulares específicos que se llaman </a:t>
            </a:r>
            <a:endParaRPr lang="es-CO" sz="2200" dirty="0">
              <a:latin typeface="Arial" panose="020B0604020202020204" pitchFamily="34" charset="0"/>
              <a:cs typeface="Arial" panose="020B0604020202020204" pitchFamily="34" charset="0"/>
            </a:endParaRPr>
          </a:p>
        </p:txBody>
      </p:sp>
      <p:sp>
        <p:nvSpPr>
          <p:cNvPr id="4" name="Marcador de contenido 3">
            <a:extLst>
              <a:ext uri="{FF2B5EF4-FFF2-40B4-BE49-F238E27FC236}">
                <a16:creationId xmlns:a16="http://schemas.microsoft.com/office/drawing/2014/main" id="{5C7EEB83-9096-0E61-4852-EFBB31432B68}"/>
              </a:ext>
            </a:extLst>
          </p:cNvPr>
          <p:cNvSpPr>
            <a:spLocks noGrp="1"/>
          </p:cNvSpPr>
          <p:nvPr>
            <p:ph sz="half" idx="2"/>
          </p:nvPr>
        </p:nvSpPr>
        <p:spPr>
          <a:xfrm>
            <a:off x="942561" y="2620756"/>
            <a:ext cx="10306878" cy="2534340"/>
          </a:xfrm>
        </p:spPr>
        <p:txBody>
          <a:bodyPr/>
          <a:lstStyle/>
          <a:p>
            <a:pPr marL="0" indent="0">
              <a:buNone/>
            </a:pPr>
            <a:r>
              <a:rPr lang="es-ES" sz="2200" dirty="0">
                <a:latin typeface="Arial" panose="020B0604020202020204" pitchFamily="34" charset="0"/>
                <a:cs typeface="Arial" panose="020B0604020202020204" pitchFamily="34" charset="0"/>
              </a:rPr>
              <a:t>A. 1 Ribosomas y 3 Lisosomas</a:t>
            </a:r>
          </a:p>
          <a:p>
            <a:pPr marL="0" indent="0">
              <a:buNone/>
            </a:pPr>
            <a:r>
              <a:rPr lang="es-ES" sz="2200" dirty="0">
                <a:latin typeface="Arial" panose="020B0604020202020204" pitchFamily="34" charset="0"/>
                <a:cs typeface="Arial" panose="020B0604020202020204" pitchFamily="34" charset="0"/>
              </a:rPr>
              <a:t>B. 1 Vacuolas y 3 Ribosomas</a:t>
            </a:r>
          </a:p>
          <a:p>
            <a:pPr marL="0" indent="0">
              <a:buNone/>
            </a:pPr>
            <a:r>
              <a:rPr lang="es-ES" sz="2200" dirty="0">
                <a:latin typeface="Arial" panose="020B0604020202020204" pitchFamily="34" charset="0"/>
                <a:cs typeface="Arial" panose="020B0604020202020204" pitchFamily="34" charset="0"/>
              </a:rPr>
              <a:t>C. 1 Lisosomas y 3 Vacuolas  </a:t>
            </a:r>
          </a:p>
          <a:p>
            <a:pPr marL="0" indent="0">
              <a:buNone/>
            </a:pPr>
            <a:r>
              <a:rPr lang="es-ES" sz="2200" dirty="0">
                <a:latin typeface="Arial" panose="020B0604020202020204" pitchFamily="34" charset="0"/>
                <a:cs typeface="Arial" panose="020B0604020202020204" pitchFamily="34" charset="0"/>
              </a:rPr>
              <a:t>D. 1 Citoplasma y 3 Membrana</a:t>
            </a:r>
          </a:p>
          <a:p>
            <a:endParaRPr lang="es-CO" dirty="0"/>
          </a:p>
        </p:txBody>
      </p:sp>
    </p:spTree>
    <p:extLst>
      <p:ext uri="{BB962C8B-B14F-4D97-AF65-F5344CB8AC3E}">
        <p14:creationId xmlns:p14="http://schemas.microsoft.com/office/powerpoint/2010/main" val="13021906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11D1F0-BA30-A791-0A99-924469EEE81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A650972-BCA3-3479-69B5-BE7C7C63FB08}"/>
              </a:ext>
            </a:extLst>
          </p:cNvPr>
          <p:cNvSpPr>
            <a:spLocks noGrp="1"/>
          </p:cNvSpPr>
          <p:nvPr>
            <p:ph type="ctrTitle"/>
          </p:nvPr>
        </p:nvSpPr>
        <p:spPr>
          <a:xfrm>
            <a:off x="335280" y="259398"/>
            <a:ext cx="11003280" cy="898842"/>
          </a:xfrm>
        </p:spPr>
        <p:txBody>
          <a:bodyPr>
            <a:normAutofit/>
          </a:bodyPr>
          <a:lstStyle/>
          <a:p>
            <a:pPr algn="l"/>
            <a:r>
              <a:rPr lang="es-MX" sz="3600" b="1" i="1" dirty="0">
                <a:latin typeface="Arial" panose="020B0604020202020204" pitchFamily="34" charset="0"/>
                <a:cs typeface="Arial" panose="020B0604020202020204" pitchFamily="34" charset="0"/>
              </a:rPr>
              <a:t>Gimnasio del Campo Juan de la Cruz Varela     </a:t>
            </a:r>
            <a:endParaRPr lang="es-CO" sz="3600" b="1" i="1" dirty="0">
              <a:latin typeface="Arial" panose="020B0604020202020204" pitchFamily="34" charset="0"/>
              <a:cs typeface="Arial" panose="020B0604020202020204" pitchFamily="34" charset="0"/>
            </a:endParaRPr>
          </a:p>
        </p:txBody>
      </p:sp>
      <p:sp>
        <p:nvSpPr>
          <p:cNvPr id="3" name="Subtítulo 2">
            <a:extLst>
              <a:ext uri="{FF2B5EF4-FFF2-40B4-BE49-F238E27FC236}">
                <a16:creationId xmlns:a16="http://schemas.microsoft.com/office/drawing/2014/main" id="{AB516E10-A3E2-F128-F57D-E00AB032A195}"/>
              </a:ext>
            </a:extLst>
          </p:cNvPr>
          <p:cNvSpPr>
            <a:spLocks noGrp="1"/>
          </p:cNvSpPr>
          <p:nvPr>
            <p:ph type="subTitle" idx="1"/>
          </p:nvPr>
        </p:nvSpPr>
        <p:spPr>
          <a:xfrm>
            <a:off x="1188720" y="1082358"/>
            <a:ext cx="9144000" cy="898842"/>
          </a:xfrm>
        </p:spPr>
        <p:txBody>
          <a:bodyPr>
            <a:normAutofit fontScale="92500"/>
          </a:bodyPr>
          <a:lstStyle/>
          <a:p>
            <a:r>
              <a:rPr lang="es-MX" b="1" dirty="0"/>
              <a:t>Segunda sesión de pruebas.</a:t>
            </a:r>
          </a:p>
          <a:p>
            <a:r>
              <a:rPr lang="es-MX" b="1" dirty="0"/>
              <a:t>Área: </a:t>
            </a:r>
            <a:r>
              <a:rPr lang="es-MX" b="1" u="sng" dirty="0"/>
              <a:t>Ciencias Naturales (química)  </a:t>
            </a:r>
            <a:r>
              <a:rPr lang="es-MX" b="1" dirty="0"/>
              <a:t>Grado: </a:t>
            </a:r>
            <a:r>
              <a:rPr lang="es-MX" b="1" u="sng" dirty="0"/>
              <a:t>sexto y  séptimo  </a:t>
            </a:r>
            <a:r>
              <a:rPr lang="es-MX" b="1" dirty="0"/>
              <a:t>Fecha………………</a:t>
            </a:r>
            <a:endParaRPr lang="es-CO" b="1" dirty="0"/>
          </a:p>
        </p:txBody>
      </p:sp>
      <p:sp>
        <p:nvSpPr>
          <p:cNvPr id="4" name="CuadroTexto 3">
            <a:extLst>
              <a:ext uri="{FF2B5EF4-FFF2-40B4-BE49-F238E27FC236}">
                <a16:creationId xmlns:a16="http://schemas.microsoft.com/office/drawing/2014/main" id="{CE6C3FAA-81DB-DC32-E261-F4C659A0A8F4}"/>
              </a:ext>
            </a:extLst>
          </p:cNvPr>
          <p:cNvSpPr txBox="1"/>
          <p:nvPr/>
        </p:nvSpPr>
        <p:spPr>
          <a:xfrm>
            <a:off x="238760" y="1905319"/>
            <a:ext cx="10764520" cy="4832092"/>
          </a:xfrm>
          <a:prstGeom prst="rect">
            <a:avLst/>
          </a:prstGeom>
          <a:noFill/>
        </p:spPr>
        <p:txBody>
          <a:bodyPr wrap="square" rtlCol="0">
            <a:spAutoFit/>
          </a:bodyPr>
          <a:lstStyle/>
          <a:p>
            <a:pPr marL="457200" indent="-457200">
              <a:buFont typeface="+mj-lt"/>
              <a:buAutoNum type="arabicPeriod"/>
            </a:pPr>
            <a:r>
              <a:rPr lang="es-CO" sz="2200" dirty="0">
                <a:latin typeface="Arial" panose="020B0604020202020204" pitchFamily="34" charset="0"/>
                <a:cs typeface="Arial" panose="020B0604020202020204" pitchFamily="34" charset="0"/>
              </a:rPr>
              <a:t>El ozono (O</a:t>
            </a:r>
            <a:r>
              <a:rPr lang="es-CO" sz="2200" baseline="-25000" dirty="0">
                <a:latin typeface="Arial" panose="020B0604020202020204" pitchFamily="34" charset="0"/>
                <a:cs typeface="Arial" panose="020B0604020202020204" pitchFamily="34" charset="0"/>
              </a:rPr>
              <a:t>3</a:t>
            </a:r>
            <a:r>
              <a:rPr lang="es-CO" sz="2200" dirty="0">
                <a:latin typeface="Arial" panose="020B0604020202020204" pitchFamily="34" charset="0"/>
                <a:cs typeface="Arial" panose="020B0604020202020204" pitchFamily="34" charset="0"/>
              </a:rPr>
              <a:t>) y el oxígeno (O</a:t>
            </a:r>
            <a:r>
              <a:rPr lang="es-CO" sz="2200" baseline="-25000" dirty="0">
                <a:latin typeface="Arial" panose="020B0604020202020204" pitchFamily="34" charset="0"/>
                <a:cs typeface="Arial" panose="020B0604020202020204" pitchFamily="34" charset="0"/>
              </a:rPr>
              <a:t>2</a:t>
            </a:r>
            <a:r>
              <a:rPr lang="es-CO" sz="2200" dirty="0">
                <a:latin typeface="Arial" panose="020B0604020202020204" pitchFamily="34" charset="0"/>
                <a:cs typeface="Arial" panose="020B0604020202020204" pitchFamily="34" charset="0"/>
              </a:rPr>
              <a:t>) son dos sustancias gaseosas que se encuentran en la atmósfera del planeta Tierra. En la siguiente figura se muestra la superficie de la Tierra y la atmósfera terrestre.</a:t>
            </a:r>
          </a:p>
          <a:p>
            <a:r>
              <a:rPr lang="es-ES" sz="2200" dirty="0">
                <a:latin typeface="Arial" panose="020B0604020202020204" pitchFamily="34" charset="0"/>
                <a:cs typeface="Arial" panose="020B0604020202020204" pitchFamily="34" charset="0"/>
              </a:rPr>
              <a:t> </a:t>
            </a:r>
          </a:p>
          <a:p>
            <a:pPr marL="457200" indent="-457200">
              <a:buFont typeface="+mj-lt"/>
              <a:buAutoNum type="arabicPeriod"/>
            </a:pPr>
            <a:endParaRPr lang="es-ES" sz="2200" dirty="0">
              <a:latin typeface="Arial" panose="020B0604020202020204" pitchFamily="34" charset="0"/>
              <a:cs typeface="Arial" panose="020B0604020202020204" pitchFamily="34" charset="0"/>
            </a:endParaRPr>
          </a:p>
          <a:p>
            <a:pPr marL="457200" indent="-457200">
              <a:buFont typeface="+mj-lt"/>
              <a:buAutoNum type="arabicPeriod"/>
            </a:pPr>
            <a:endParaRPr lang="es-ES" sz="2200" dirty="0">
              <a:latin typeface="Arial" panose="020B0604020202020204" pitchFamily="34" charset="0"/>
              <a:cs typeface="Arial" panose="020B0604020202020204" pitchFamily="34" charset="0"/>
            </a:endParaRPr>
          </a:p>
          <a:p>
            <a:pPr marL="457200" indent="-457200">
              <a:buFont typeface="+mj-lt"/>
              <a:buAutoNum type="arabicPeriod"/>
            </a:pPr>
            <a:endParaRPr lang="es-ES" sz="2200" dirty="0">
              <a:latin typeface="Arial" panose="020B0604020202020204" pitchFamily="34" charset="0"/>
              <a:cs typeface="Arial" panose="020B0604020202020204" pitchFamily="34" charset="0"/>
            </a:endParaRPr>
          </a:p>
          <a:p>
            <a:pPr marL="457200" indent="-457200">
              <a:buFont typeface="+mj-lt"/>
              <a:buAutoNum type="arabicPeriod"/>
            </a:pPr>
            <a:endParaRPr lang="es-ES" sz="2200" dirty="0">
              <a:latin typeface="Arial" panose="020B0604020202020204" pitchFamily="34" charset="0"/>
              <a:cs typeface="Arial" panose="020B0604020202020204" pitchFamily="34" charset="0"/>
            </a:endParaRPr>
          </a:p>
          <a:p>
            <a:pPr marL="457200" indent="-457200">
              <a:buFont typeface="+mj-lt"/>
              <a:buAutoNum type="arabicPeriod"/>
            </a:pPr>
            <a:endParaRPr lang="es-ES" sz="2200" dirty="0">
              <a:latin typeface="Arial" panose="020B0604020202020204" pitchFamily="34" charset="0"/>
              <a:cs typeface="Arial" panose="020B0604020202020204" pitchFamily="34" charset="0"/>
            </a:endParaRPr>
          </a:p>
          <a:p>
            <a:pPr marL="457200" indent="-457200">
              <a:buFont typeface="+mj-lt"/>
              <a:buAutoNum type="arabicPeriod"/>
            </a:pPr>
            <a:endParaRPr lang="es-ES" sz="2200" dirty="0">
              <a:latin typeface="Arial" panose="020B0604020202020204" pitchFamily="34" charset="0"/>
              <a:cs typeface="Arial" panose="020B0604020202020204" pitchFamily="34" charset="0"/>
            </a:endParaRPr>
          </a:p>
          <a:p>
            <a:pPr marL="457200" indent="-457200">
              <a:buFont typeface="+mj-lt"/>
              <a:buAutoNum type="arabicPeriod"/>
            </a:pPr>
            <a:endParaRPr lang="es-ES" sz="2200" dirty="0">
              <a:latin typeface="Arial" panose="020B0604020202020204" pitchFamily="34" charset="0"/>
              <a:cs typeface="Arial" panose="020B0604020202020204" pitchFamily="34" charset="0"/>
            </a:endParaRPr>
          </a:p>
          <a:p>
            <a:pPr marL="457200" indent="-457200">
              <a:buFont typeface="+mj-lt"/>
              <a:buAutoNum type="arabicPeriod"/>
            </a:pPr>
            <a:endParaRPr lang="es-ES" sz="2200" dirty="0">
              <a:latin typeface="Arial" panose="020B0604020202020204" pitchFamily="34" charset="0"/>
              <a:cs typeface="Arial" panose="020B0604020202020204" pitchFamily="34" charset="0"/>
            </a:endParaRPr>
          </a:p>
          <a:p>
            <a:endParaRPr lang="es-MX" sz="2200" dirty="0">
              <a:latin typeface="Arial" panose="020B0604020202020204" pitchFamily="34" charset="0"/>
              <a:cs typeface="Arial" panose="020B0604020202020204" pitchFamily="34" charset="0"/>
            </a:endParaRPr>
          </a:p>
          <a:p>
            <a:endParaRPr lang="es-MX" sz="2200" dirty="0">
              <a:latin typeface="Arial" panose="020B0604020202020204" pitchFamily="34" charset="0"/>
              <a:cs typeface="Arial" panose="020B0604020202020204" pitchFamily="34" charset="0"/>
            </a:endParaRPr>
          </a:p>
        </p:txBody>
      </p:sp>
      <p:pic>
        <p:nvPicPr>
          <p:cNvPr id="5" name="Imagen 4">
            <a:extLst>
              <a:ext uri="{FF2B5EF4-FFF2-40B4-BE49-F238E27FC236}">
                <a16:creationId xmlns:a16="http://schemas.microsoft.com/office/drawing/2014/main" id="{DAEC2C5D-172B-7164-EAAC-7C9453524E85}"/>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10196830" y="503238"/>
            <a:ext cx="638810" cy="579120"/>
          </a:xfrm>
          <a:prstGeom prst="rect">
            <a:avLst/>
          </a:prstGeom>
          <a:noFill/>
        </p:spPr>
      </p:pic>
      <p:pic>
        <p:nvPicPr>
          <p:cNvPr id="7" name="Imagen 6">
            <a:extLst>
              <a:ext uri="{FF2B5EF4-FFF2-40B4-BE49-F238E27FC236}">
                <a16:creationId xmlns:a16="http://schemas.microsoft.com/office/drawing/2014/main" id="{63ED3F07-CD56-F97C-67C1-F2EC2658123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939165" y="2983409"/>
            <a:ext cx="6407040" cy="3132814"/>
          </a:xfrm>
          <a:prstGeom prst="rect">
            <a:avLst/>
          </a:prstGeom>
          <a:noFill/>
          <a:ln>
            <a:noFill/>
          </a:ln>
        </p:spPr>
      </p:pic>
    </p:spTree>
    <p:extLst>
      <p:ext uri="{BB962C8B-B14F-4D97-AF65-F5344CB8AC3E}">
        <p14:creationId xmlns:p14="http://schemas.microsoft.com/office/powerpoint/2010/main" val="39242475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0F338A-175D-F204-AF0F-30E2B8F75B9C}"/>
            </a:ext>
          </a:extLst>
        </p:cNvPr>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1B05E148-88F9-89D9-6200-0A4C04E6961D}"/>
              </a:ext>
            </a:extLst>
          </p:cNvPr>
          <p:cNvSpPr>
            <a:spLocks noGrp="1"/>
          </p:cNvSpPr>
          <p:nvPr>
            <p:ph idx="1"/>
          </p:nvPr>
        </p:nvSpPr>
        <p:spPr>
          <a:xfrm>
            <a:off x="838200" y="1073426"/>
            <a:ext cx="10515600" cy="3908891"/>
          </a:xfrm>
        </p:spPr>
        <p:txBody>
          <a:bodyPr>
            <a:noAutofit/>
          </a:bodyPr>
          <a:lstStyle/>
          <a:p>
            <a:pPr marL="0" indent="0">
              <a:lnSpc>
                <a:spcPct val="100000"/>
              </a:lnSpc>
              <a:buNone/>
            </a:pPr>
            <a:r>
              <a:rPr lang="es-ES" sz="2200" dirty="0">
                <a:latin typeface="Arial" panose="020B0604020202020204" pitchFamily="34" charset="0"/>
                <a:cs typeface="Arial" panose="020B0604020202020204" pitchFamily="34" charset="0"/>
              </a:rPr>
              <a:t>El ozono (O3) protege el planeta de la radiación ultravioleta; el oxígeno (O2) es una sustancia que necesitan muchos seres vivos para respirar. Estas sustancias tienen distintas propiedades porque</a:t>
            </a:r>
          </a:p>
          <a:p>
            <a:pPr marL="0" indent="0">
              <a:lnSpc>
                <a:spcPct val="100000"/>
              </a:lnSpc>
              <a:buNone/>
            </a:pPr>
            <a:r>
              <a:rPr lang="es-ES" sz="2200" dirty="0">
                <a:latin typeface="Arial" panose="020B0604020202020204" pitchFamily="34" charset="0"/>
                <a:cs typeface="Arial" panose="020B0604020202020204" pitchFamily="34" charset="0"/>
              </a:rPr>
              <a:t>A. a pesar de estar conformados por átomos de oxígeno (O), el ozono y el oxígeno tienen distinta</a:t>
            </a:r>
          </a:p>
          <a:p>
            <a:pPr marL="0" indent="0">
              <a:lnSpc>
                <a:spcPct val="100000"/>
              </a:lnSpc>
              <a:buNone/>
            </a:pPr>
            <a:r>
              <a:rPr lang="es-ES" sz="2200" dirty="0">
                <a:latin typeface="Arial" panose="020B0604020202020204" pitchFamily="34" charset="0"/>
                <a:cs typeface="Arial" panose="020B0604020202020204" pitchFamily="34" charset="0"/>
              </a:rPr>
              <a:t>cantidad de átomos.</a:t>
            </a:r>
          </a:p>
          <a:p>
            <a:pPr marL="0" indent="0">
              <a:lnSpc>
                <a:spcPct val="100000"/>
              </a:lnSpc>
              <a:buNone/>
            </a:pPr>
            <a:r>
              <a:rPr lang="es-ES" sz="2200" dirty="0">
                <a:latin typeface="Arial" panose="020B0604020202020204" pitchFamily="34" charset="0"/>
                <a:cs typeface="Arial" panose="020B0604020202020204" pitchFamily="34" charset="0"/>
              </a:rPr>
              <a:t>B. tanto el ozono como el oxígeno son gases de la atmósfera.</a:t>
            </a:r>
          </a:p>
          <a:p>
            <a:pPr marL="0" indent="0">
              <a:lnSpc>
                <a:spcPct val="100000"/>
              </a:lnSpc>
              <a:buNone/>
            </a:pPr>
            <a:r>
              <a:rPr lang="es-ES" sz="2200" dirty="0">
                <a:latin typeface="Arial" panose="020B0604020202020204" pitchFamily="34" charset="0"/>
                <a:cs typeface="Arial" panose="020B0604020202020204" pitchFamily="34" charset="0"/>
              </a:rPr>
              <a:t>C. el ozono está conformado por átomos y el oxígeno no.</a:t>
            </a:r>
          </a:p>
          <a:p>
            <a:pPr marL="0" indent="0">
              <a:lnSpc>
                <a:spcPct val="100000"/>
              </a:lnSpc>
              <a:buNone/>
            </a:pPr>
            <a:r>
              <a:rPr lang="es-ES" sz="2200" dirty="0">
                <a:latin typeface="Arial" panose="020B0604020202020204" pitchFamily="34" charset="0"/>
                <a:cs typeface="Arial" panose="020B0604020202020204" pitchFamily="34" charset="0"/>
              </a:rPr>
              <a:t>D. a pesar de estar en la atmósfera, el oxígeno se encuentra solo en la superficie de la Tierra y el ozono debajo de la superficie.</a:t>
            </a:r>
          </a:p>
          <a:p>
            <a:pPr marL="0" indent="0">
              <a:buNone/>
            </a:pPr>
            <a:r>
              <a:rPr lang="es-ES" sz="2200" dirty="0">
                <a:latin typeface="Arial" panose="020B0604020202020204" pitchFamily="34" charset="0"/>
                <a:cs typeface="Arial" panose="020B0604020202020204" pitchFamily="34" charset="0"/>
              </a:rPr>
              <a:t>.</a:t>
            </a:r>
          </a:p>
          <a:p>
            <a:pPr marL="0" indent="0">
              <a:buNone/>
            </a:pPr>
            <a:endParaRPr lang="es-CO" sz="2200" dirty="0"/>
          </a:p>
        </p:txBody>
      </p:sp>
    </p:spTree>
    <p:extLst>
      <p:ext uri="{BB962C8B-B14F-4D97-AF65-F5344CB8AC3E}">
        <p14:creationId xmlns:p14="http://schemas.microsoft.com/office/powerpoint/2010/main" val="794172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35B687-BEFE-2B95-6CC2-66823342458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ACF1A9F-196E-51DD-CF15-9FC053ACC5D1}"/>
              </a:ext>
            </a:extLst>
          </p:cNvPr>
          <p:cNvSpPr>
            <a:spLocks noGrp="1"/>
          </p:cNvSpPr>
          <p:nvPr>
            <p:ph type="title"/>
          </p:nvPr>
        </p:nvSpPr>
        <p:spPr>
          <a:xfrm>
            <a:off x="501187" y="789101"/>
            <a:ext cx="10515600" cy="456604"/>
          </a:xfrm>
        </p:spPr>
        <p:txBody>
          <a:bodyPr>
            <a:normAutofit fontScale="90000"/>
          </a:bodyPr>
          <a:lstStyle/>
          <a:p>
            <a:r>
              <a:rPr lang="es-ES" sz="2200" dirty="0">
                <a:latin typeface="Arial" panose="020B0604020202020204" pitchFamily="34" charset="0"/>
                <a:cs typeface="Arial" panose="020B0604020202020204" pitchFamily="34" charset="0"/>
              </a:rPr>
              <a:t>Responda las preguntas 2,3, y 4 con las configuraciones electrónicas que se presenta a continuación</a:t>
            </a:r>
            <a:br>
              <a:rPr lang="es-ES" sz="2200" dirty="0">
                <a:latin typeface="Arial" panose="020B0604020202020204" pitchFamily="34" charset="0"/>
                <a:cs typeface="Arial" panose="020B0604020202020204" pitchFamily="34" charset="0"/>
              </a:rPr>
            </a:br>
            <a:r>
              <a:rPr lang="es-ES" sz="2200" dirty="0">
                <a:latin typeface="Arial" panose="020B0604020202020204" pitchFamily="34" charset="0"/>
                <a:cs typeface="Arial" panose="020B0604020202020204" pitchFamily="34" charset="0"/>
              </a:rPr>
              <a:t> </a:t>
            </a:r>
            <a:br>
              <a:rPr lang="es-ES" sz="2200" dirty="0">
                <a:latin typeface="Arial" panose="020B0604020202020204" pitchFamily="34" charset="0"/>
                <a:cs typeface="Arial" panose="020B0604020202020204" pitchFamily="34" charset="0"/>
              </a:rPr>
            </a:br>
            <a:br>
              <a:rPr lang="es-ES" sz="2200" dirty="0">
                <a:latin typeface="Arial" panose="020B0604020202020204" pitchFamily="34" charset="0"/>
                <a:cs typeface="Arial" panose="020B0604020202020204" pitchFamily="34" charset="0"/>
              </a:rPr>
            </a:br>
            <a:endParaRPr lang="es-CO" sz="2200" dirty="0">
              <a:latin typeface="Arial" panose="020B0604020202020204" pitchFamily="34" charset="0"/>
              <a:cs typeface="Arial" panose="020B0604020202020204" pitchFamily="34" charset="0"/>
            </a:endParaRPr>
          </a:p>
        </p:txBody>
      </p:sp>
      <p:sp>
        <p:nvSpPr>
          <p:cNvPr id="4" name="Marcador de contenido 3">
            <a:extLst>
              <a:ext uri="{FF2B5EF4-FFF2-40B4-BE49-F238E27FC236}">
                <a16:creationId xmlns:a16="http://schemas.microsoft.com/office/drawing/2014/main" id="{C531C369-E996-8261-4EE9-6899EBB32089}"/>
              </a:ext>
            </a:extLst>
          </p:cNvPr>
          <p:cNvSpPr>
            <a:spLocks noGrp="1"/>
          </p:cNvSpPr>
          <p:nvPr>
            <p:ph sz="half" idx="2"/>
          </p:nvPr>
        </p:nvSpPr>
        <p:spPr>
          <a:xfrm>
            <a:off x="689113" y="1349755"/>
            <a:ext cx="11383617" cy="5320646"/>
          </a:xfrm>
        </p:spPr>
        <p:txBody>
          <a:bodyPr>
            <a:noAutofit/>
          </a:bodyPr>
          <a:lstStyle/>
          <a:p>
            <a:pPr marL="0" indent="0">
              <a:lnSpc>
                <a:spcPct val="120000"/>
              </a:lnSpc>
              <a:buNone/>
            </a:pPr>
            <a:r>
              <a:rPr lang="es-ES" sz="2000" dirty="0">
                <a:latin typeface="Arial" panose="020B0604020202020204" pitchFamily="34" charset="0"/>
                <a:cs typeface="Arial" panose="020B0604020202020204" pitchFamily="34" charset="0"/>
              </a:rPr>
              <a:t>2. Los átomos presentes en la configuración electrónica terminan y tienen en común:</a:t>
            </a:r>
          </a:p>
          <a:p>
            <a:pPr marL="0" indent="0">
              <a:lnSpc>
                <a:spcPct val="120000"/>
              </a:lnSpc>
              <a:buNone/>
            </a:pPr>
            <a:r>
              <a:rPr lang="es-ES" sz="2000" dirty="0">
                <a:latin typeface="Arial" panose="020B0604020202020204" pitchFamily="34" charset="0"/>
                <a:cs typeface="Arial" panose="020B0604020202020204" pitchFamily="34" charset="0"/>
              </a:rPr>
              <a:t>A. fila 1                           </a:t>
            </a:r>
          </a:p>
          <a:p>
            <a:pPr marL="0" indent="0">
              <a:lnSpc>
                <a:spcPct val="120000"/>
              </a:lnSpc>
              <a:buNone/>
            </a:pPr>
            <a:r>
              <a:rPr lang="es-ES" sz="2000" dirty="0">
                <a:latin typeface="Arial" panose="020B0604020202020204" pitchFamily="34" charset="0"/>
                <a:cs typeface="Arial" panose="020B0604020202020204" pitchFamily="34" charset="0"/>
              </a:rPr>
              <a:t>B. fila 2                                </a:t>
            </a:r>
          </a:p>
          <a:p>
            <a:pPr marL="0" indent="0">
              <a:lnSpc>
                <a:spcPct val="120000"/>
              </a:lnSpc>
              <a:buNone/>
            </a:pPr>
            <a:r>
              <a:rPr lang="es-ES" sz="2000" dirty="0">
                <a:latin typeface="Arial" panose="020B0604020202020204" pitchFamily="34" charset="0"/>
                <a:cs typeface="Arial" panose="020B0604020202020204" pitchFamily="34" charset="0"/>
              </a:rPr>
              <a:t>C. fila 3                           </a:t>
            </a:r>
          </a:p>
          <a:p>
            <a:pPr marL="0" indent="0">
              <a:lnSpc>
                <a:spcPct val="120000"/>
              </a:lnSpc>
              <a:buNone/>
            </a:pPr>
            <a:r>
              <a:rPr lang="es-ES" sz="2000" dirty="0">
                <a:latin typeface="Arial" panose="020B0604020202020204" pitchFamily="34" charset="0"/>
                <a:cs typeface="Arial" panose="020B0604020202020204" pitchFamily="34" charset="0"/>
              </a:rPr>
              <a:t>D. fila 7</a:t>
            </a:r>
          </a:p>
          <a:p>
            <a:pPr marL="0" indent="0">
              <a:lnSpc>
                <a:spcPct val="120000"/>
              </a:lnSpc>
              <a:buNone/>
            </a:pPr>
            <a:r>
              <a:rPr lang="es-ES" sz="2000" dirty="0">
                <a:latin typeface="Arial" panose="020B0604020202020204" pitchFamily="34" charset="0"/>
                <a:cs typeface="Arial" panose="020B0604020202020204" pitchFamily="34" charset="0"/>
              </a:rPr>
              <a:t>3. El grupo es la cantidad de electrones en su último nivel de energía para cada elemento de la configuración respectivamente es </a:t>
            </a:r>
          </a:p>
          <a:p>
            <a:pPr marL="0" indent="0">
              <a:lnSpc>
                <a:spcPct val="120000"/>
              </a:lnSpc>
              <a:buNone/>
            </a:pPr>
            <a:r>
              <a:rPr lang="es-ES" sz="2000" dirty="0">
                <a:latin typeface="Arial" panose="020B0604020202020204" pitchFamily="34" charset="0"/>
                <a:cs typeface="Arial" panose="020B0604020202020204" pitchFamily="34" charset="0"/>
              </a:rPr>
              <a:t>A. IA y VA                         </a:t>
            </a:r>
          </a:p>
          <a:p>
            <a:pPr marL="0" indent="0">
              <a:lnSpc>
                <a:spcPct val="120000"/>
              </a:lnSpc>
              <a:buNone/>
            </a:pPr>
            <a:r>
              <a:rPr lang="es-ES" sz="2000" dirty="0">
                <a:latin typeface="Arial" panose="020B0604020202020204" pitchFamily="34" charset="0"/>
                <a:cs typeface="Arial" panose="020B0604020202020204" pitchFamily="34" charset="0"/>
              </a:rPr>
              <a:t>B. IIA y IVA                             </a:t>
            </a:r>
          </a:p>
          <a:p>
            <a:pPr marL="0" indent="0">
              <a:lnSpc>
                <a:spcPct val="120000"/>
              </a:lnSpc>
              <a:buNone/>
            </a:pPr>
            <a:r>
              <a:rPr lang="es-ES" sz="2000" dirty="0">
                <a:latin typeface="Arial" panose="020B0604020202020204" pitchFamily="34" charset="0"/>
                <a:cs typeface="Arial" panose="020B0604020202020204" pitchFamily="34" charset="0"/>
              </a:rPr>
              <a:t>C. IA y VIIA                        </a:t>
            </a:r>
          </a:p>
          <a:p>
            <a:pPr marL="0" indent="0">
              <a:lnSpc>
                <a:spcPct val="120000"/>
              </a:lnSpc>
              <a:buNone/>
            </a:pPr>
            <a:r>
              <a:rPr lang="es-ES" sz="2000" dirty="0">
                <a:latin typeface="Arial" panose="020B0604020202020204" pitchFamily="34" charset="0"/>
                <a:cs typeface="Arial" panose="020B0604020202020204" pitchFamily="34" charset="0"/>
              </a:rPr>
              <a:t>D. Ambos son IA</a:t>
            </a:r>
            <a:endParaRPr lang="es-CO" sz="2000" dirty="0">
              <a:latin typeface="Arial" panose="020B0604020202020204" pitchFamily="34" charset="0"/>
              <a:cs typeface="Arial" panose="020B0604020202020204" pitchFamily="34" charset="0"/>
            </a:endParaRPr>
          </a:p>
          <a:p>
            <a:pPr marL="0" indent="0">
              <a:buNone/>
            </a:pPr>
            <a:endParaRPr lang="es-CO" sz="2200" dirty="0"/>
          </a:p>
        </p:txBody>
      </p:sp>
      <p:pic>
        <p:nvPicPr>
          <p:cNvPr id="7" name="Imagen 6">
            <a:extLst>
              <a:ext uri="{FF2B5EF4-FFF2-40B4-BE49-F238E27FC236}">
                <a16:creationId xmlns:a16="http://schemas.microsoft.com/office/drawing/2014/main" id="{E9F8BC30-2666-F9DA-FD75-D39AF512589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996065" y="789101"/>
            <a:ext cx="5233535" cy="560654"/>
          </a:xfrm>
          <a:prstGeom prst="rect">
            <a:avLst/>
          </a:prstGeom>
          <a:noFill/>
          <a:ln>
            <a:noFill/>
          </a:ln>
        </p:spPr>
      </p:pic>
    </p:spTree>
    <p:extLst>
      <p:ext uri="{BB962C8B-B14F-4D97-AF65-F5344CB8AC3E}">
        <p14:creationId xmlns:p14="http://schemas.microsoft.com/office/powerpoint/2010/main" val="30563135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9D1C67-5A07-DE04-CE69-E9A704D357D6}"/>
            </a:ext>
          </a:extLst>
        </p:cNvPr>
        <p:cNvGrpSpPr/>
        <p:nvPr/>
      </p:nvGrpSpPr>
      <p:grpSpPr>
        <a:xfrm>
          <a:off x="0" y="0"/>
          <a:ext cx="0" cy="0"/>
          <a:chOff x="0" y="0"/>
          <a:chExt cx="0" cy="0"/>
        </a:xfrm>
      </p:grpSpPr>
      <p:sp>
        <p:nvSpPr>
          <p:cNvPr id="4" name="Marcador de contenido 3">
            <a:extLst>
              <a:ext uri="{FF2B5EF4-FFF2-40B4-BE49-F238E27FC236}">
                <a16:creationId xmlns:a16="http://schemas.microsoft.com/office/drawing/2014/main" id="{3B5EDA99-9ED6-991B-DBAB-E22356473373}"/>
              </a:ext>
            </a:extLst>
          </p:cNvPr>
          <p:cNvSpPr>
            <a:spLocks noGrp="1"/>
          </p:cNvSpPr>
          <p:nvPr>
            <p:ph sz="half" idx="2"/>
          </p:nvPr>
        </p:nvSpPr>
        <p:spPr>
          <a:xfrm>
            <a:off x="660570" y="703385"/>
            <a:ext cx="10259221" cy="4559178"/>
          </a:xfrm>
        </p:spPr>
        <p:txBody>
          <a:bodyPr>
            <a:normAutofit/>
          </a:bodyPr>
          <a:lstStyle/>
          <a:p>
            <a:pPr marL="0" indent="0">
              <a:buNone/>
            </a:pPr>
            <a:r>
              <a:rPr lang="es-ES" sz="2200" dirty="0">
                <a:latin typeface="Arial" panose="020B0604020202020204" pitchFamily="34" charset="0"/>
                <a:cs typeface="Arial" panose="020B0604020202020204" pitchFamily="34" charset="0"/>
              </a:rPr>
              <a:t>4. La configuración por spin correcta es para el primer elemento es</a:t>
            </a:r>
          </a:p>
          <a:p>
            <a:pPr marL="0" indent="0">
              <a:buNone/>
            </a:pPr>
            <a:endParaRPr lang="es-CO" sz="2200" dirty="0">
              <a:latin typeface="Arial" panose="020B0604020202020204" pitchFamily="34" charset="0"/>
              <a:cs typeface="Arial" panose="020B0604020202020204" pitchFamily="34" charset="0"/>
            </a:endParaRPr>
          </a:p>
        </p:txBody>
      </p:sp>
      <p:pic>
        <p:nvPicPr>
          <p:cNvPr id="10" name="Imagen 9">
            <a:extLst>
              <a:ext uri="{FF2B5EF4-FFF2-40B4-BE49-F238E27FC236}">
                <a16:creationId xmlns:a16="http://schemas.microsoft.com/office/drawing/2014/main" id="{EC834721-861A-5798-D413-B34278B947E8}"/>
              </a:ext>
            </a:extLst>
          </p:cNvPr>
          <p:cNvPicPr>
            <a:picLocks noChangeAspect="1"/>
          </p:cNvPicPr>
          <p:nvPr/>
        </p:nvPicPr>
        <p:blipFill>
          <a:blip r:embed="rId2"/>
          <a:stretch>
            <a:fillRect/>
          </a:stretch>
        </p:blipFill>
        <p:spPr>
          <a:xfrm>
            <a:off x="1089196" y="1288917"/>
            <a:ext cx="5006804" cy="3990098"/>
          </a:xfrm>
          <a:prstGeom prst="rect">
            <a:avLst/>
          </a:prstGeom>
        </p:spPr>
      </p:pic>
    </p:spTree>
    <p:extLst>
      <p:ext uri="{BB962C8B-B14F-4D97-AF65-F5344CB8AC3E}">
        <p14:creationId xmlns:p14="http://schemas.microsoft.com/office/powerpoint/2010/main" val="8182644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D03890-CB0F-4C44-ADC3-EF5763AE3AC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0E88547-CB52-2B7B-3033-80DA25B6A62C}"/>
              </a:ext>
            </a:extLst>
          </p:cNvPr>
          <p:cNvSpPr>
            <a:spLocks noGrp="1"/>
          </p:cNvSpPr>
          <p:nvPr>
            <p:ph type="title"/>
          </p:nvPr>
        </p:nvSpPr>
        <p:spPr>
          <a:xfrm>
            <a:off x="488851" y="140678"/>
            <a:ext cx="11088860" cy="1436332"/>
          </a:xfrm>
        </p:spPr>
        <p:txBody>
          <a:bodyPr>
            <a:normAutofit/>
          </a:bodyPr>
          <a:lstStyle/>
          <a:p>
            <a:r>
              <a:rPr lang="es-ES" sz="2200" dirty="0">
                <a:latin typeface="Arial" panose="020B0604020202020204" pitchFamily="34" charset="0"/>
                <a:cs typeface="Arial" panose="020B0604020202020204" pitchFamily="34" charset="0"/>
              </a:rPr>
              <a:t>5. Según sus propiedades y composición, los materiales pueden clasificarse en: elementos, compuestos o mezclas. A continuación, se muestran esquemas que representan la composición de dos materiales</a:t>
            </a:r>
            <a:endParaRPr lang="es-CO" sz="2200" dirty="0">
              <a:latin typeface="Arial" panose="020B0604020202020204" pitchFamily="34" charset="0"/>
              <a:cs typeface="Arial" panose="020B0604020202020204" pitchFamily="34" charset="0"/>
            </a:endParaRPr>
          </a:p>
        </p:txBody>
      </p:sp>
      <p:sp>
        <p:nvSpPr>
          <p:cNvPr id="4" name="Marcador de contenido 3">
            <a:extLst>
              <a:ext uri="{FF2B5EF4-FFF2-40B4-BE49-F238E27FC236}">
                <a16:creationId xmlns:a16="http://schemas.microsoft.com/office/drawing/2014/main" id="{5BB347C9-9B91-F479-D283-1515C7049157}"/>
              </a:ext>
            </a:extLst>
          </p:cNvPr>
          <p:cNvSpPr>
            <a:spLocks noGrp="1"/>
          </p:cNvSpPr>
          <p:nvPr>
            <p:ph sz="half" idx="2"/>
          </p:nvPr>
        </p:nvSpPr>
        <p:spPr>
          <a:xfrm>
            <a:off x="488851" y="3812386"/>
            <a:ext cx="9893304" cy="2179635"/>
          </a:xfrm>
        </p:spPr>
        <p:txBody>
          <a:bodyPr>
            <a:noAutofit/>
          </a:bodyPr>
          <a:lstStyle/>
          <a:p>
            <a:pPr marL="0" indent="0">
              <a:buNone/>
            </a:pPr>
            <a:r>
              <a:rPr lang="es-CO" sz="2200" dirty="0">
                <a:latin typeface="Arial" panose="020B0604020202020204" pitchFamily="34" charset="0"/>
                <a:cs typeface="Arial" panose="020B0604020202020204" pitchFamily="34" charset="0"/>
              </a:rPr>
              <a:t>A partir de lo anterior, ¿cuál material se puede clasificar como elemento?</a:t>
            </a:r>
          </a:p>
          <a:p>
            <a:pPr marL="0" indent="0">
              <a:buNone/>
            </a:pPr>
            <a:r>
              <a:rPr lang="es-CO" sz="2200" dirty="0">
                <a:latin typeface="Arial" panose="020B0604020202020204" pitchFamily="34" charset="0"/>
                <a:cs typeface="Arial" panose="020B0604020202020204" pitchFamily="34" charset="0"/>
              </a:rPr>
              <a:t>A. El material 1, porque este tiene una mayor cantidad de átomos de neón que el material 2.</a:t>
            </a:r>
          </a:p>
          <a:p>
            <a:pPr marL="0" indent="0">
              <a:buNone/>
            </a:pPr>
            <a:r>
              <a:rPr lang="es-CO" sz="2200" dirty="0">
                <a:latin typeface="Arial" panose="020B0604020202020204" pitchFamily="34" charset="0"/>
                <a:cs typeface="Arial" panose="020B0604020202020204" pitchFamily="34" charset="0"/>
              </a:rPr>
              <a:t>B. El material 1, porque este se compone de un solo tipo de átomo.</a:t>
            </a:r>
          </a:p>
          <a:p>
            <a:pPr marL="0" indent="0">
              <a:buNone/>
            </a:pPr>
            <a:r>
              <a:rPr lang="es-CO" sz="2200" dirty="0">
                <a:latin typeface="Arial" panose="020B0604020202020204" pitchFamily="34" charset="0"/>
                <a:cs typeface="Arial" panose="020B0604020202020204" pitchFamily="34" charset="0"/>
              </a:rPr>
              <a:t>C. El material 2, porque este se compone de dos átomos diferentes.</a:t>
            </a:r>
          </a:p>
          <a:p>
            <a:pPr marL="0" indent="0">
              <a:buNone/>
            </a:pPr>
            <a:r>
              <a:rPr lang="es-CO" sz="2200" dirty="0">
                <a:latin typeface="Arial" panose="020B0604020202020204" pitchFamily="34" charset="0"/>
                <a:cs typeface="Arial" panose="020B0604020202020204" pitchFamily="34" charset="0"/>
              </a:rPr>
              <a:t>D. El material 2, porque este tiene una mayor cantidad de átomos de helio que el material 1</a:t>
            </a:r>
          </a:p>
        </p:txBody>
      </p:sp>
      <p:pic>
        <p:nvPicPr>
          <p:cNvPr id="7" name="Imagen 6">
            <a:extLst>
              <a:ext uri="{FF2B5EF4-FFF2-40B4-BE49-F238E27FC236}">
                <a16:creationId xmlns:a16="http://schemas.microsoft.com/office/drawing/2014/main" id="{29B9E52D-35D9-6502-15AD-196DF3E56E0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447113" y="1482436"/>
            <a:ext cx="8935042" cy="2063100"/>
          </a:xfrm>
          <a:prstGeom prst="rect">
            <a:avLst/>
          </a:prstGeom>
          <a:noFill/>
          <a:ln>
            <a:noFill/>
          </a:ln>
        </p:spPr>
      </p:pic>
    </p:spTree>
    <p:extLst>
      <p:ext uri="{BB962C8B-B14F-4D97-AF65-F5344CB8AC3E}">
        <p14:creationId xmlns:p14="http://schemas.microsoft.com/office/powerpoint/2010/main" val="1659759360"/>
      </p:ext>
    </p:extLst>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29AF8C"/>
      </a:accent1>
      <a:accent2>
        <a:srgbClr val="97BE49"/>
      </a:accent2>
      <a:accent3>
        <a:srgbClr val="3D9CCC"/>
      </a:accent3>
      <a:accent4>
        <a:srgbClr val="7C60C6"/>
      </a:accent4>
      <a:accent5>
        <a:srgbClr val="C9492C"/>
      </a:accent5>
      <a:accent6>
        <a:srgbClr val="D58C2E"/>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3E4F19A7-A959-40BB-972C-4880BAF8EB09}"/>
    </a:ext>
  </a:extLst>
</a:theme>
</file>

<file path=docProps/app.xml><?xml version="1.0" encoding="utf-8"?>
<Properties xmlns="http://schemas.openxmlformats.org/officeDocument/2006/extended-properties" xmlns:vt="http://schemas.openxmlformats.org/officeDocument/2006/docPropsVTypes">
  <Template>Office 2013 - 2022 Theme</Template>
  <TotalTime>105</TotalTime>
  <Words>940</Words>
  <Application>Microsoft Office PowerPoint</Application>
  <PresentationFormat>Panorámica</PresentationFormat>
  <Paragraphs>79</Paragraphs>
  <Slides>11</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11</vt:i4>
      </vt:variant>
    </vt:vector>
  </HeadingPairs>
  <TitlesOfParts>
    <vt:vector size="15" baseType="lpstr">
      <vt:lpstr>Arial</vt:lpstr>
      <vt:lpstr>Calibri</vt:lpstr>
      <vt:lpstr>Calibri Light</vt:lpstr>
      <vt:lpstr>Office 2013 - 2022 Theme</vt:lpstr>
      <vt:lpstr>Gimnasio del Campo Juan de la Cruz Varela     </vt:lpstr>
      <vt:lpstr>Presentación de PowerPoint</vt:lpstr>
      <vt:lpstr>2. En la figura se muestra el modelo del proceso de respiración celular</vt:lpstr>
      <vt:lpstr>3. En una zona rural, se propone la construcción de una planta de tratamiento de agua (ver figura) para potabilizar el agua de un río.</vt:lpstr>
      <vt:lpstr>Responda las preguntas 4 y 5  4.El esquema representa el proceso de fagocitosis celular, en el cual las células forman vesículas con partículas del medio ambiente para introducirlas en el citoplasma en donde son digeridas. De acuerdo con el esquema las moléculas 1 y 3 representarían </vt:lpstr>
      <vt:lpstr>5. Los procesos anteriormente nombrados se realizan en las células con la participación de uno organelos celulares específicos que se llaman </vt:lpstr>
      <vt:lpstr>Gimnasio del Campo Juan de la Cruz Varela     </vt:lpstr>
      <vt:lpstr>Presentación de PowerPoint</vt:lpstr>
      <vt:lpstr>Responda las preguntas 2,3, y 4 con las configuraciones electrónicas que se presenta a continuación    </vt:lpstr>
      <vt:lpstr>Presentación de PowerPoint</vt:lpstr>
      <vt:lpstr>5. Según sus propiedades y composición, los materiales pueden clasificarse en: elementos, compuestos o mezclas. A continuación, se muestran esquemas que representan la composición de dos materiales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Gimnasio del Campo Juan de la Cruz Varela</dc:title>
  <dc:creator>Rafael Cortes</dc:creator>
  <cp:lastModifiedBy>TULIA MARCELA VARGAS AVENDANO</cp:lastModifiedBy>
  <cp:revision>12</cp:revision>
  <dcterms:created xsi:type="dcterms:W3CDTF">2025-07-07T23:16:55Z</dcterms:created>
  <dcterms:modified xsi:type="dcterms:W3CDTF">2025-07-18T00:08:58Z</dcterms:modified>
</cp:coreProperties>
</file>